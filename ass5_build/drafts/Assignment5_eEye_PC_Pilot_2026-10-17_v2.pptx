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1044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87084B5-D66E-C4E9-E1DE-2EF1258B8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325C643B-2A08-AF19-332E-2B16011F9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FEC302A-6CC2-B3DB-E41B-EF8A19516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9D7F493-CF27-112C-4DA1-374F79332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E7542F6-4F68-ED56-78BD-2AAA1C64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07743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4491F61-BCA5-C5F9-4D71-B712E3D3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53FC45C3-10F9-7742-6ED5-B210A1F56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D2502E0-DDA0-129C-8BF6-0F4C2AAF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F021A116-FF5B-40D1-26FA-BA211CF6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844F741-F69D-76D0-77E7-08437ACD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833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EFCB0B5-0C20-06C8-ED96-3EA551812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A77DCDE0-69B7-9781-0D4B-B00788F80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C8B5BC22-00F3-4E61-8062-A1B3AACC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C300DA8-3179-E107-07D1-BF12521D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66A791C-7321-067C-7149-A9175E184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693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71DE5E3-9F96-BA11-9E2E-AA9BC172A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FE95CB49-62C9-EDF3-F315-A37F6CD48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AF1B24D8-AE6F-1D03-A865-1F3FEC556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A5694281-1F5F-3FC2-0457-4F739550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8CD3058-1F8A-14BE-BDB7-7A5DCE22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DD5B5AF-EABA-E393-1322-2D430CAA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7090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146935F-418D-EBF0-E946-2399E7FB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1134F8DE-151B-FEC9-377E-73B8F4321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EE3D36AF-46C9-E6D4-0D28-256A8CA5B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606C3BB2-DD86-1403-3A7E-DD285AFAE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00AA63A4-5DDB-B4D0-BD44-B51482AF0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B3536181-9834-60E9-B97E-B5F23402F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4698B58E-8FD6-4ACD-A704-B190A202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0F269353-EE67-7660-0AF3-7A7BFE812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43270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71B30F2-9D16-F33C-5F4C-E9F9115B3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35917517-C147-7A3F-1F1F-C8583EEAE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B6612324-01AD-BB4F-A24A-D202C718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6C51F2F7-B4CC-7ACE-C30F-61255FFD8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97591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7686F3A9-179C-84AE-F7BE-E1D95F789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51334A45-FCA5-0B27-350D-85E40D35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0E5A1602-5ABF-A186-FFCC-99229E08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6075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68F02B8-DAD3-3930-36B6-EFDC63224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2B78D0A-C94F-9879-9DBE-35A899499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B987FD4C-2FAF-B5A2-601D-507E990D5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41F95A3-4CAB-826F-9827-08733C8C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9CDA558-96F1-7E08-14B0-3BCE1A05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1125B2F4-D955-0F4D-D67C-3F536455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925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532F71B-C197-4048-D66D-3111DC6A2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501B1918-BDB8-A25A-E180-CDAD65B28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722189A0-6A21-6D55-400E-26B5ECCE7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C6A99DB1-9866-2492-EE2C-AAA54BEAA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263E86B7-1325-3EE5-7FF9-81085251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AD4D7329-D7F4-9B55-060F-936C5BD0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95779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02C2DF2-DB38-9487-1567-E11417D96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9B6A68BF-A177-A18E-179A-FC8BEB640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3811CE8-9014-2615-D12C-3BAACCB8F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75D95DE-6705-A014-E8A8-E0792E6F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ED666AF-A35B-3C98-22FA-3A4A76A5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1821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97E7F347-14C0-2C01-B6E9-5E7312B8E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7E7AC32F-334A-02AA-357F-2EDCF5AEC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561AE99-0B7F-A6B3-9399-319870C01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879ADE46-A27B-D83F-E28A-6DB4CFA76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E9C748D-088E-8B36-3FD6-79A24454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168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1F580290-F8C3-2B3C-F4CF-2C1FC8262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37D50337-FC4A-E990-B8FC-9A207A45B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E031BBB-E00E-4237-FF6E-32E768614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1296D-8E0A-4EE6-9738-59C2832ACC4B}" type="datetimeFigureOut">
              <a:rPr lang="th-TH" smtClean="0"/>
              <a:t>17/10/69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A6529F0-27E7-6147-231D-88066D4E35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D1D1297-717F-DE96-C7FF-C98A456AA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A84517-D8DF-4F1A-9D0C-2601C6F61CD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57416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2F18935D-2508-2275-3AD0-4E151760DF59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3BCE981-A9DE-56F1-5E53-1C52A8A0511C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Assignment 5: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ความคืบหน้าระบบ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e-Eye</a:t>
            </a:r>
            <a:endParaRPr lang="th-TH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8A8AE941-0C6D-A70B-4525-8DA7FD2F334D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ระบบประสาทส่วนกลางอัจฉริยะในที่พักอาศัย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37F2F20C-D710-1886-85D8-A76958EDF89D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568C59DD-65E7-05C0-FF80-22CD5418A5C0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7337EAC3-0D76-5CF1-8AE9-500CAED7F332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FA89F050-71A2-C6C1-E842-61F93CB221A4}"/>
              </a:ext>
            </a:extLst>
          </p:cNvPr>
          <p:cNvSpPr txBox="1"/>
          <p:nvPr/>
        </p:nvSpPr>
        <p:spPr>
          <a:xfrm>
            <a:off x="647700" y="1955800"/>
            <a:ext cx="1047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3000" b="1">
                <a:solidFill>
                  <a:srgbClr val="202F3A"/>
                </a:solidFill>
                <a:latin typeface="Tahoma" panose="020B0604030504040204" pitchFamily="34" charset="0"/>
              </a:rPr>
              <a:t>จากกรอบวิจัย </a:t>
            </a:r>
            <a:r>
              <a:rPr lang="en-US" sz="3000" b="1">
                <a:solidFill>
                  <a:srgbClr val="202F3A"/>
                </a:solidFill>
                <a:latin typeface="Tahoma" panose="020B0604030504040204" pitchFamily="34" charset="0"/>
              </a:rPr>
              <a:t>Edge AI </a:t>
            </a:r>
            <a:r>
              <a:rPr lang="th-TH" sz="3000" b="1">
                <a:solidFill>
                  <a:srgbClr val="202F3A"/>
                </a:solidFill>
                <a:latin typeface="Tahoma" panose="020B0604030504040204" pitchFamily="34" charset="0"/>
              </a:rPr>
              <a:t>สู่การทดลองด้วยภาพใบซื้อสินค้าจริงบน </a:t>
            </a:r>
            <a:r>
              <a:rPr lang="en-US" sz="3000" b="1">
                <a:solidFill>
                  <a:srgbClr val="202F3A"/>
                </a:solidFill>
                <a:latin typeface="Tahoma" panose="020B0604030504040204" pitchFamily="34" charset="0"/>
              </a:rPr>
              <a:t>PC</a:t>
            </a:r>
            <a:endParaRPr lang="th-TH" sz="3000" b="1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9C4CF4D2-8A87-C0D9-85BC-62C077F76E55}"/>
              </a:ext>
            </a:extLst>
          </p:cNvPr>
          <p:cNvSpPr/>
          <p:nvPr/>
        </p:nvSpPr>
        <p:spPr>
          <a:xfrm>
            <a:off x="660400" y="3632200"/>
            <a:ext cx="1562100" cy="635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6AD720E9-08CD-07D5-DF14-1DA3FDBFF088}"/>
              </a:ext>
            </a:extLst>
          </p:cNvPr>
          <p:cNvSpPr txBox="1"/>
          <p:nvPr/>
        </p:nvSpPr>
        <p:spPr>
          <a:xfrm>
            <a:off x="673100" y="4076700"/>
            <a:ext cx="977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ณัชพล เพ็งพล  |  ธนบดี เริ่มรักสกุล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59CC8EFB-25D8-44A0-1DA6-34CB2587313C}"/>
              </a:ext>
            </a:extLst>
          </p:cNvPr>
          <p:cNvSpPr txBox="1"/>
          <p:nvPr/>
        </p:nvSpPr>
        <p:spPr>
          <a:xfrm>
            <a:off x="673100" y="4584700"/>
            <a:ext cx="977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700">
                <a:solidFill>
                  <a:srgbClr val="586974"/>
                </a:solidFill>
                <a:latin typeface="Tahoma" panose="020B0604030504040204" pitchFamily="34" charset="0"/>
              </a:rPr>
              <a:t>อาจารย์ที่ปรึกษา ผศ.บุญทรัพย์ ไวคำ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3A7779DF-3ACA-055E-195C-C2E213E6B378}"/>
              </a:ext>
            </a:extLst>
          </p:cNvPr>
          <p:cNvSpPr txBox="1"/>
          <p:nvPr/>
        </p:nvSpPr>
        <p:spPr>
          <a:xfrm>
            <a:off x="673100" y="51054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สาขาวิชาวิทยาการคอมพิวเตอร์ มหาวิทยาลัยขอนแก่น</a:t>
            </a:r>
          </a:p>
        </p:txBody>
      </p:sp>
    </p:spTree>
    <p:extLst>
      <p:ext uri="{BB962C8B-B14F-4D97-AF65-F5344CB8AC3E}">
        <p14:creationId xmlns:p14="http://schemas.microsoft.com/office/powerpoint/2010/main" val="123609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D9AE8F44-74D6-B18C-F92E-A02D99FC859D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7969D59-01E7-6365-E5BB-6E55EC4F7F5B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ภาพรวม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e-Senses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ของบ้าน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97EF56A0-BFAC-78E2-CB44-B17DBC2F8703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วิทยานิพนธ์ระยะแรกศึกษาที่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e-Eye</a:t>
            </a:r>
            <a:endParaRPr lang="th-TH" sz="1500">
              <a:solidFill>
                <a:srgbClr val="586974"/>
              </a:solidFill>
              <a:latin typeface="Tahoma" panose="020B0604030504040204" pitchFamily="34" charset="0"/>
            </a:endParaRP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70F268C7-67B9-4A07-2CC8-448BA4FB476D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6697CEC2-12EF-561C-7E75-E5E777C6A597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7C4A3F32-4C87-60DE-D8F2-AC7AA4EEB8C1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6EAEDE39-D416-0660-33D4-FBFC2B700DC6}"/>
              </a:ext>
            </a:extLst>
          </p:cNvPr>
          <p:cNvSpPr txBox="1"/>
          <p:nvPr/>
        </p:nvSpPr>
        <p:spPr>
          <a:xfrm>
            <a:off x="4140200" y="1752600"/>
            <a:ext cx="4254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200" b="1">
                <a:solidFill>
                  <a:srgbClr val="11324D"/>
                </a:solidFill>
                <a:latin typeface="Tahoma" panose="020B0604030504040204" pitchFamily="34" charset="0"/>
              </a:rPr>
              <a:t>Home Digital Nervous System</a:t>
            </a:r>
            <a:endParaRPr lang="th-TH" sz="2200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cxnSp>
        <p:nvCxnSpPr>
          <p:cNvPr id="9" name="ตัวเชื่อมต่อตรง 8">
            <a:extLst>
              <a:ext uri="{FF2B5EF4-FFF2-40B4-BE49-F238E27FC236}">
                <a16:creationId xmlns:a16="http://schemas.microsoft.com/office/drawing/2014/main" id="{8C5E177B-9E20-416B-D89E-C6E8545C7FC4}"/>
              </a:ext>
            </a:extLst>
          </p:cNvPr>
          <p:cNvCxnSpPr/>
          <p:nvPr/>
        </p:nvCxnSpPr>
        <p:spPr>
          <a:xfrm>
            <a:off x="6108700" y="2273300"/>
            <a:ext cx="0" cy="5334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ตัวเชื่อมต่อตรง 9">
            <a:extLst>
              <a:ext uri="{FF2B5EF4-FFF2-40B4-BE49-F238E27FC236}">
                <a16:creationId xmlns:a16="http://schemas.microsoft.com/office/drawing/2014/main" id="{F3DA4A8D-7D8B-A0EB-3E78-1E4DF11AB1B9}"/>
              </a:ext>
            </a:extLst>
          </p:cNvPr>
          <p:cNvCxnSpPr/>
          <p:nvPr/>
        </p:nvCxnSpPr>
        <p:spPr>
          <a:xfrm>
            <a:off x="2349500" y="2806700"/>
            <a:ext cx="74930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ตัวเชื่อมต่อตรง 10">
            <a:extLst>
              <a:ext uri="{FF2B5EF4-FFF2-40B4-BE49-F238E27FC236}">
                <a16:creationId xmlns:a16="http://schemas.microsoft.com/office/drawing/2014/main" id="{D6DB7583-EF71-55F8-F242-82E4D15E17E9}"/>
              </a:ext>
            </a:extLst>
          </p:cNvPr>
          <p:cNvCxnSpPr/>
          <p:nvPr/>
        </p:nvCxnSpPr>
        <p:spPr>
          <a:xfrm>
            <a:off x="2349500" y="2806700"/>
            <a:ext cx="0" cy="3048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ตัวเชื่อมต่อตรง 11">
            <a:extLst>
              <a:ext uri="{FF2B5EF4-FFF2-40B4-BE49-F238E27FC236}">
                <a16:creationId xmlns:a16="http://schemas.microsoft.com/office/drawing/2014/main" id="{2140FBA8-0262-0BE5-1FD7-D3649A9576CE}"/>
              </a:ext>
            </a:extLst>
          </p:cNvPr>
          <p:cNvCxnSpPr/>
          <p:nvPr/>
        </p:nvCxnSpPr>
        <p:spPr>
          <a:xfrm>
            <a:off x="6108700" y="2806700"/>
            <a:ext cx="0" cy="3048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ตัวเชื่อมต่อตรง 12">
            <a:extLst>
              <a:ext uri="{FF2B5EF4-FFF2-40B4-BE49-F238E27FC236}">
                <a16:creationId xmlns:a16="http://schemas.microsoft.com/office/drawing/2014/main" id="{881E93EC-40CC-9752-1A73-AAD1788FCF4A}"/>
              </a:ext>
            </a:extLst>
          </p:cNvPr>
          <p:cNvCxnSpPr/>
          <p:nvPr/>
        </p:nvCxnSpPr>
        <p:spPr>
          <a:xfrm>
            <a:off x="9842500" y="2806700"/>
            <a:ext cx="0" cy="3048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35C951AC-124D-F5D9-1818-B142FDC1509C}"/>
              </a:ext>
            </a:extLst>
          </p:cNvPr>
          <p:cNvSpPr/>
          <p:nvPr/>
        </p:nvSpPr>
        <p:spPr>
          <a:xfrm>
            <a:off x="736600" y="3111500"/>
            <a:ext cx="3238500" cy="14351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2DDEA083-2292-807E-78C6-F606DA1489E6}"/>
              </a:ext>
            </a:extLst>
          </p:cNvPr>
          <p:cNvSpPr txBox="1"/>
          <p:nvPr/>
        </p:nvSpPr>
        <p:spPr>
          <a:xfrm>
            <a:off x="990600" y="3340100"/>
            <a:ext cx="2692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FFFFFF"/>
                </a:solidFill>
                <a:latin typeface="Tahoma" panose="020B0604030504040204" pitchFamily="34" charset="0"/>
              </a:rPr>
              <a:t>e-Eye</a:t>
            </a:r>
            <a:endParaRPr lang="th-TH" sz="2500" b="1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5FE9A1C2-A19F-A070-9704-6E1DFC424265}"/>
              </a:ext>
            </a:extLst>
          </p:cNvPr>
          <p:cNvSpPr txBox="1"/>
          <p:nvPr/>
        </p:nvSpPr>
        <p:spPr>
          <a:xfrm>
            <a:off x="965200" y="3911600"/>
            <a:ext cx="2743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700">
                <a:solidFill>
                  <a:srgbClr val="FFFFFF"/>
                </a:solidFill>
                <a:latin typeface="Tahoma" panose="020B0604030504040204" pitchFamily="34" charset="0"/>
              </a:rPr>
              <a:t>ภาพใบซื้อสินค้า / เอกสาร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CD693591-61F6-7633-9EAE-91775965BAC7}"/>
              </a:ext>
            </a:extLst>
          </p:cNvPr>
          <p:cNvSpPr/>
          <p:nvPr/>
        </p:nvSpPr>
        <p:spPr>
          <a:xfrm>
            <a:off x="4508500" y="3111500"/>
            <a:ext cx="3238500" cy="1435100"/>
          </a:xfrm>
          <a:prstGeom prst="rect">
            <a:avLst/>
          </a:prstGeom>
          <a:solidFill>
            <a:srgbClr val="E7EE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AABE3101-6006-6A42-AF3E-207426C431A1}"/>
              </a:ext>
            </a:extLst>
          </p:cNvPr>
          <p:cNvSpPr txBox="1"/>
          <p:nvPr/>
        </p:nvSpPr>
        <p:spPr>
          <a:xfrm>
            <a:off x="4787900" y="3340100"/>
            <a:ext cx="264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202F3A"/>
                </a:solidFill>
                <a:latin typeface="Tahoma" panose="020B0604030504040204" pitchFamily="34" charset="0"/>
              </a:rPr>
              <a:t>e-Nose</a:t>
            </a:r>
            <a:endParaRPr lang="th-TH" sz="2500" b="1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C03B5D26-D06C-2B83-16EC-E81DD971BA81}"/>
              </a:ext>
            </a:extLst>
          </p:cNvPr>
          <p:cNvSpPr txBox="1"/>
          <p:nvPr/>
        </p:nvSpPr>
        <p:spPr>
          <a:xfrm>
            <a:off x="4686300" y="3911600"/>
            <a:ext cx="285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ก๊าซ /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VOC: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แผนต่อยอด</a:t>
            </a:r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96491553-A015-B894-BBF1-477B6EAB69AD}"/>
              </a:ext>
            </a:extLst>
          </p:cNvPr>
          <p:cNvSpPr/>
          <p:nvPr/>
        </p:nvSpPr>
        <p:spPr>
          <a:xfrm>
            <a:off x="8255000" y="3111500"/>
            <a:ext cx="3238500" cy="1435100"/>
          </a:xfrm>
          <a:prstGeom prst="rect">
            <a:avLst/>
          </a:prstGeom>
          <a:solidFill>
            <a:srgbClr val="E7EE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29DF37CB-1FB8-E503-1E6A-AB891DEAB00E}"/>
              </a:ext>
            </a:extLst>
          </p:cNvPr>
          <p:cNvSpPr txBox="1"/>
          <p:nvPr/>
        </p:nvSpPr>
        <p:spPr>
          <a:xfrm>
            <a:off x="8509000" y="3340100"/>
            <a:ext cx="2717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202F3A"/>
                </a:solidFill>
                <a:latin typeface="Tahoma" panose="020B0604030504040204" pitchFamily="34" charset="0"/>
              </a:rPr>
              <a:t>e-Skin</a:t>
            </a:r>
            <a:endParaRPr lang="th-TH" sz="2500" b="1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22" name="กล่องข้อความ 21">
            <a:extLst>
              <a:ext uri="{FF2B5EF4-FFF2-40B4-BE49-F238E27FC236}">
                <a16:creationId xmlns:a16="http://schemas.microsoft.com/office/drawing/2014/main" id="{42BF3ED6-C253-FA87-FE21-63D947413F5A}"/>
              </a:ext>
            </a:extLst>
          </p:cNvPr>
          <p:cNvSpPr txBox="1"/>
          <p:nvPr/>
        </p:nvSpPr>
        <p:spPr>
          <a:xfrm>
            <a:off x="8394700" y="3911600"/>
            <a:ext cx="2971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น้ำหนัก / สัมผัส: แผนต่อยอด</a:t>
            </a:r>
          </a:p>
        </p:txBody>
      </p:sp>
      <p:sp>
        <p:nvSpPr>
          <p:cNvPr id="23" name="กล่องข้อความ 22">
            <a:extLst>
              <a:ext uri="{FF2B5EF4-FFF2-40B4-BE49-F238E27FC236}">
                <a16:creationId xmlns:a16="http://schemas.microsoft.com/office/drawing/2014/main" id="{B4A4706E-97AB-AD79-7476-2388892A68BA}"/>
              </a:ext>
            </a:extLst>
          </p:cNvPr>
          <p:cNvSpPr txBox="1"/>
          <p:nvPr/>
        </p:nvSpPr>
        <p:spPr>
          <a:xfrm>
            <a:off x="787400" y="5054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ขอบเขต: ภาพ → ตรวจบริเวณเอกสาร →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OCR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นำร่อง →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JSON (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แผนถัดไป)</a:t>
            </a:r>
          </a:p>
        </p:txBody>
      </p:sp>
    </p:spTree>
    <p:extLst>
      <p:ext uri="{BB962C8B-B14F-4D97-AF65-F5344CB8AC3E}">
        <p14:creationId xmlns:p14="http://schemas.microsoft.com/office/powerpoint/2010/main" val="214019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D228725B-F10C-B321-14F4-CE4C00EA50EB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FE232D2E-2B1A-16C5-C656-68305233255C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คำถามวิจัยและขอบเขตระยะนี้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A556550E-E015-5594-685E-AAAAFDB04D93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ต่อยอดกรอบ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Performance Trade-off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จาก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Assignment 4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ฉบับ 32 หน้า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B6003062-78B2-E1FB-9AFC-42584BCAFFBC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A2293435-3437-5DFC-687E-2EA3A0E5A039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18F59C3C-0438-43A4-AC9A-36A113FC02E3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3A882944-759F-2ACA-33D2-DD0FD4A6B976}"/>
              </a:ext>
            </a:extLst>
          </p:cNvPr>
          <p:cNvSpPr txBox="1"/>
          <p:nvPr/>
        </p:nvSpPr>
        <p:spPr>
          <a:xfrm>
            <a:off x="673100" y="1866900"/>
            <a:ext cx="10604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600" b="1">
                <a:solidFill>
                  <a:srgbClr val="11324D"/>
                </a:solidFill>
                <a:latin typeface="Tahoma" panose="020B0604030504040204" pitchFamily="34" charset="0"/>
              </a:rPr>
              <a:t>ระบบเฉพาะถิ่นจะอ่านใบซื้อสินค้าจริงได้แม่นยำเพียงใด เมื่อภาพและทรัพยากรเปลี่ยน?</a:t>
            </a:r>
          </a:p>
        </p:txBody>
      </p:sp>
      <p:cxnSp>
        <p:nvCxnSpPr>
          <p:cNvPr id="9" name="ตัวเชื่อมต่อตรง 8">
            <a:extLst>
              <a:ext uri="{FF2B5EF4-FFF2-40B4-BE49-F238E27FC236}">
                <a16:creationId xmlns:a16="http://schemas.microsoft.com/office/drawing/2014/main" id="{27CE754A-2CF6-B8F9-9B12-E9E514CB63AA}"/>
              </a:ext>
            </a:extLst>
          </p:cNvPr>
          <p:cNvCxnSpPr/>
          <p:nvPr/>
        </p:nvCxnSpPr>
        <p:spPr>
          <a:xfrm>
            <a:off x="673100" y="3276600"/>
            <a:ext cx="108077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A9514AD-A527-1444-481A-9A249165821F}"/>
              </a:ext>
            </a:extLst>
          </p:cNvPr>
          <p:cNvSpPr txBox="1"/>
          <p:nvPr/>
        </p:nvSpPr>
        <p:spPr>
          <a:xfrm>
            <a:off x="698500" y="3619500"/>
            <a:ext cx="215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000" b="1">
                <a:solidFill>
                  <a:srgbClr val="0E8186"/>
                </a:solidFill>
                <a:latin typeface="Tahoma" panose="020B0604030504040204" pitchFamily="34" charset="0"/>
              </a:rPr>
              <a:t>ทดลองแล้ว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636261F4-3E06-1998-E932-6CBD9A998AD6}"/>
              </a:ext>
            </a:extLst>
          </p:cNvPr>
          <p:cNvSpPr txBox="1"/>
          <p:nvPr/>
        </p:nvSpPr>
        <p:spPr>
          <a:xfrm>
            <a:off x="698500" y="4114800"/>
            <a:ext cx="1022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คัดภาพจริง  • 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EDA  •  YOLOv8n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บน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CPU  •  OCR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นำร่อง  • 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RKNN SDK </a:t>
            </a:r>
            <a:r>
              <a:rPr lang="th-TH" sz="1900">
                <a:solidFill>
                  <a:srgbClr val="202F3A"/>
                </a:solidFill>
                <a:latin typeface="Tahoma" panose="020B0604030504040204" pitchFamily="34" charset="0"/>
              </a:rPr>
              <a:t>บน </a:t>
            </a:r>
            <a:r>
              <a:rPr lang="en-US" sz="1900">
                <a:solidFill>
                  <a:srgbClr val="202F3A"/>
                </a:solidFill>
                <a:latin typeface="Tahoma" panose="020B0604030504040204" pitchFamily="34" charset="0"/>
              </a:rPr>
              <a:t>PC</a:t>
            </a:r>
            <a:endParaRPr lang="th-TH" sz="1900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FB77AEA2-F5B0-574E-6128-1AA9A7A2A2F3}"/>
              </a:ext>
            </a:extLst>
          </p:cNvPr>
          <p:cNvSpPr txBox="1"/>
          <p:nvPr/>
        </p:nvSpPr>
        <p:spPr>
          <a:xfrm>
            <a:off x="698500" y="5207000"/>
            <a:ext cx="215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 b="1">
                <a:solidFill>
                  <a:srgbClr val="CD682A"/>
                </a:solidFill>
                <a:latin typeface="Tahoma" panose="020B0604030504040204" pitchFamily="34" charset="0"/>
              </a:rPr>
              <a:t>ยังไม่ทดสอบ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77A0B632-2189-0E56-6A34-1A5BE9453604}"/>
              </a:ext>
            </a:extLst>
          </p:cNvPr>
          <p:cNvSpPr txBox="1"/>
          <p:nvPr/>
        </p:nvSpPr>
        <p:spPr>
          <a:xfrm>
            <a:off x="2921000" y="5207000"/>
            <a:ext cx="831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>
                <a:solidFill>
                  <a:srgbClr val="586974"/>
                </a:solidFill>
                <a:latin typeface="Tahoma" panose="020B0604030504040204" pitchFamily="34" charset="0"/>
              </a:rPr>
              <a:t>LLM/JSON </a:t>
            </a:r>
            <a:r>
              <a:rPr lang="th-TH" sz="1700">
                <a:solidFill>
                  <a:srgbClr val="586974"/>
                </a:solidFill>
                <a:latin typeface="Tahoma" panose="020B0604030504040204" pitchFamily="34" charset="0"/>
              </a:rPr>
              <a:t>ที่มีเฉลยตรวจซ้ำ และความเร็ว/พลังงานของ </a:t>
            </a:r>
            <a:r>
              <a:rPr lang="en-US" sz="1700">
                <a:solidFill>
                  <a:srgbClr val="586974"/>
                </a:solidFill>
                <a:latin typeface="Tahoma" panose="020B0604030504040204" pitchFamily="34" charset="0"/>
              </a:rPr>
              <a:t>RK3588 NPU </a:t>
            </a:r>
            <a:r>
              <a:rPr lang="th-TH" sz="1700">
                <a:solidFill>
                  <a:srgbClr val="586974"/>
                </a:solidFill>
                <a:latin typeface="Tahoma" panose="020B0604030504040204" pitchFamily="34" charset="0"/>
              </a:rPr>
              <a:t>จริง</a:t>
            </a:r>
          </a:p>
        </p:txBody>
      </p:sp>
    </p:spTree>
    <p:extLst>
      <p:ext uri="{BB962C8B-B14F-4D97-AF65-F5344CB8AC3E}">
        <p14:creationId xmlns:p14="http://schemas.microsoft.com/office/powerpoint/2010/main" val="2835003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DFD67D29-7800-77C7-49A2-D994008B67B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B8DDA1F-7284-C9BC-D833-164DA0AAEAF6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ภาพจริงที่ใช้: คัดครบก่อนทดลอง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E3E0A84D-A72A-289A-B20A-26B9A9027790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จำนวนภาพไม่เท่ากับจำนวนธุรกรรมอิสระ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AD715058-C9D4-F384-A00D-9445F1B28CEC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A965D180-1C3C-6FE8-4557-5847AB0738D4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952F8341-F411-F011-019D-3E4C31C05C69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F8C2A8D8-9CF5-0C16-CDB7-03F3130B9CDD}"/>
              </a:ext>
            </a:extLst>
          </p:cNvPr>
          <p:cNvSpPr txBox="1"/>
          <p:nvPr/>
        </p:nvSpPr>
        <p:spPr>
          <a:xfrm>
            <a:off x="711200" y="1727200"/>
            <a:ext cx="2514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200" b="1">
                <a:solidFill>
                  <a:srgbClr val="11324D"/>
                </a:solidFill>
                <a:latin typeface="Tahoma" panose="020B0604030504040204" pitchFamily="34" charset="0"/>
              </a:rPr>
              <a:t>124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B53FB963-AA68-1755-322D-04C261A8A47E}"/>
              </a:ext>
            </a:extLst>
          </p:cNvPr>
          <p:cNvSpPr txBox="1"/>
          <p:nvPr/>
        </p:nvSpPr>
        <p:spPr>
          <a:xfrm>
            <a:off x="736600" y="2654300"/>
            <a:ext cx="2222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ไฟล์ที่รับ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FA48DC09-AB5A-0397-D513-1D83B3BF101E}"/>
              </a:ext>
            </a:extLst>
          </p:cNvPr>
          <p:cNvSpPr txBox="1"/>
          <p:nvPr/>
        </p:nvSpPr>
        <p:spPr>
          <a:xfrm>
            <a:off x="4279900" y="1727200"/>
            <a:ext cx="2501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200" b="1">
                <a:solidFill>
                  <a:srgbClr val="11324D"/>
                </a:solidFill>
                <a:latin typeface="Tahoma" panose="020B0604030504040204" pitchFamily="34" charset="0"/>
              </a:rPr>
              <a:t>113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36D3E2E4-C7CD-AC6A-F9D6-97C72DA3AA9C}"/>
              </a:ext>
            </a:extLst>
          </p:cNvPr>
          <p:cNvSpPr txBox="1"/>
          <p:nvPr/>
        </p:nvSpPr>
        <p:spPr>
          <a:xfrm>
            <a:off x="4305300" y="2654300"/>
            <a:ext cx="279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ภาพ </a:t>
            </a:r>
            <a:r>
              <a:rPr lang="en-US" sz="1800">
                <a:solidFill>
                  <a:srgbClr val="586974"/>
                </a:solidFill>
                <a:latin typeface="Tahoma" panose="020B0604030504040204" pitchFamily="34" charset="0"/>
              </a:rPr>
              <a:t>SHA-256 </a:t>
            </a:r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ไม่ซ้ำ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2261BD64-F6B0-EB25-D0CB-4E48FD931616}"/>
              </a:ext>
            </a:extLst>
          </p:cNvPr>
          <p:cNvSpPr txBox="1"/>
          <p:nvPr/>
        </p:nvSpPr>
        <p:spPr>
          <a:xfrm>
            <a:off x="8572500" y="17272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200" b="1">
                <a:solidFill>
                  <a:srgbClr val="0E8186"/>
                </a:solidFill>
                <a:latin typeface="Tahoma" panose="020B0604030504040204" pitchFamily="34" charset="0"/>
              </a:rPr>
              <a:t>59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F7FAEE40-074B-C4D8-ACE9-DD6D915EB839}"/>
              </a:ext>
            </a:extLst>
          </p:cNvPr>
          <p:cNvSpPr txBox="1"/>
          <p:nvPr/>
        </p:nvSpPr>
        <p:spPr>
          <a:xfrm>
            <a:off x="8597900" y="2654300"/>
            <a:ext cx="289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586974"/>
                </a:solidFill>
                <a:latin typeface="Tahoma" panose="020B0604030504040204" pitchFamily="34" charset="0"/>
              </a:rPr>
              <a:t>ภาพผู้สมัครใบซื้อสินค้า</a:t>
            </a:r>
          </a:p>
        </p:txBody>
      </p:sp>
      <p:cxnSp>
        <p:nvCxnSpPr>
          <p:cNvPr id="14" name="ตัวเชื่อมต่อตรง 13">
            <a:extLst>
              <a:ext uri="{FF2B5EF4-FFF2-40B4-BE49-F238E27FC236}">
                <a16:creationId xmlns:a16="http://schemas.microsoft.com/office/drawing/2014/main" id="{B5D95090-D144-0E86-80BC-82AF5C89B03D}"/>
              </a:ext>
            </a:extLst>
          </p:cNvPr>
          <p:cNvCxnSpPr/>
          <p:nvPr/>
        </p:nvCxnSpPr>
        <p:spPr>
          <a:xfrm>
            <a:off x="698500" y="3429000"/>
            <a:ext cx="107315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6DCEB4F2-3FC0-11AA-3F0F-CCDB8D8453C3}"/>
              </a:ext>
            </a:extLst>
          </p:cNvPr>
          <p:cNvSpPr txBox="1"/>
          <p:nvPr/>
        </p:nvSpPr>
        <p:spPr>
          <a:xfrm>
            <a:off x="723900" y="3810000"/>
            <a:ext cx="1022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 b="1">
                <a:solidFill>
                  <a:srgbClr val="202F3A"/>
                </a:solidFill>
                <a:latin typeface="Tahoma" panose="020B0604030504040204" pitchFamily="34" charset="0"/>
              </a:rPr>
              <a:t>ชุดหลัก 59 ภาพ: พิมพ์ 41 / เขียนมือ 18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7DEDB1C2-C322-0123-51CD-50043DD5054C}"/>
              </a:ext>
            </a:extLst>
          </p:cNvPr>
          <p:cNvSpPr txBox="1"/>
          <p:nvPr/>
        </p:nvSpPr>
        <p:spPr>
          <a:xfrm>
            <a:off x="723900" y="4445000"/>
            <a:ext cx="10375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ชุดเสริม: ใบรับเงิน 28, ใบแจ้งหนี้ค่าหอ 14, เอกสารอื่นและกรณีพิเศษ 12</a:t>
            </a: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78A1ADAE-A618-DC10-F086-6763CD6E870F}"/>
              </a:ext>
            </a:extLst>
          </p:cNvPr>
          <p:cNvSpPr txBox="1"/>
          <p:nvPr/>
        </p:nvSpPr>
        <p:spPr>
          <a:xfrm>
            <a:off x="723900" y="5473700"/>
            <a:ext cx="10566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คัดชนิดจากภาพโดยผู้ช่วย; ยังมี 1 ภาพรอตรวจละเอียด และผู้วิจัยต้องตรวจซ้ำ</a:t>
            </a:r>
          </a:p>
        </p:txBody>
      </p:sp>
    </p:spTree>
    <p:extLst>
      <p:ext uri="{BB962C8B-B14F-4D97-AF65-F5344CB8AC3E}">
        <p14:creationId xmlns:p14="http://schemas.microsoft.com/office/powerpoint/2010/main" val="355495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BF02A77B-30D7-2AF4-D853-F67DC4F79F95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F3745918-6328-944D-243D-0E7587B78E7A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EDA: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ชุดใบซื้อสินค้ามี 59 ภาพ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B5B1091C-5EB4-01D9-DA2B-FFBB5E92500E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สถิติแสงวัดทั้งภาพ รวมฉากหลัง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3B1A100C-BEFA-ED5A-D637-9217FA92D383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E1765228-D534-3E35-32EE-53DE8AB62C28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61265670-A57D-B36A-4A5A-946339201E18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5</a:t>
            </a:r>
          </a:p>
        </p:txBody>
      </p:sp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F8E36F84-A19C-63D2-29DD-E3C41DC87E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" y="1689100"/>
            <a:ext cx="10922000" cy="3175000"/>
          </a:xfrm>
          <a:prstGeom prst="rect">
            <a:avLst/>
          </a:prstGeom>
        </p:spPr>
      </p:pic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E5872170-E87F-E231-077A-03E4F944B276}"/>
              </a:ext>
            </a:extLst>
          </p:cNvPr>
          <p:cNvSpPr txBox="1"/>
          <p:nvPr/>
        </p:nvSpPr>
        <p:spPr>
          <a:xfrm>
            <a:off x="723900" y="5219700"/>
            <a:ext cx="10731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 b="1">
                <a:solidFill>
                  <a:srgbClr val="202F3A"/>
                </a:solidFill>
                <a:latin typeface="Tahoma" panose="020B0604030504040204" pitchFamily="34" charset="0"/>
              </a:rPr>
              <a:t>ภาพแนวตั้ง 38 / แนวนอน 21   •   ความสว่างมัธยฐาน 173.9/255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5598F5BD-5991-898F-A5A3-EC5C76D9A958}"/>
              </a:ext>
            </a:extLst>
          </p:cNvPr>
          <p:cNvSpPr txBox="1"/>
          <p:nvPr/>
        </p:nvSpPr>
        <p:spPr>
          <a:xfrm>
            <a:off x="723900" y="5651500"/>
            <a:ext cx="1066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ยังไม่ได้วัดมุมเอียงและความหนาแน่นอักษรไทย/อังกฤษ</a:t>
            </a:r>
          </a:p>
        </p:txBody>
      </p:sp>
    </p:spTree>
    <p:extLst>
      <p:ext uri="{BB962C8B-B14F-4D97-AF65-F5344CB8AC3E}">
        <p14:creationId xmlns:p14="http://schemas.microsoft.com/office/powerpoint/2010/main" val="392163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4613FAE-BEAA-7C3E-5352-B513B672D4B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ACDF8311-3CCA-5DBE-CA4F-7D94D6B92CF4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วิธีทดลอง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YOLOv8n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บน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PC</a:t>
            </a:r>
            <a:endParaRPr lang="th-TH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F7F2A308-4005-FF26-5C02-1C295B6EF4D2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เป้าหมายเป็นกรอบ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receipt_region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หนึ่งบริเวณต่อภาพ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EAABD987-0463-29C0-0E50-0338FA937AB7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3167B5AA-0950-4732-63D2-D79C15F7C2BF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FF15B71E-2A86-19BE-1576-B0CD51B4F431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DC769C5A-3EE5-DC7C-6279-76436EAE93FF}"/>
              </a:ext>
            </a:extLst>
          </p:cNvPr>
          <p:cNvSpPr txBox="1"/>
          <p:nvPr/>
        </p:nvSpPr>
        <p:spPr>
          <a:xfrm>
            <a:off x="736600" y="1803400"/>
            <a:ext cx="3797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500" b="1">
                <a:solidFill>
                  <a:srgbClr val="11324D"/>
                </a:solidFill>
                <a:latin typeface="Tahoma" panose="020B0604030504040204" pitchFamily="34" charset="0"/>
              </a:rPr>
              <a:t>48 ภาพฉากเดิม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1B8C989B-A424-9DC2-2041-720754C90734}"/>
              </a:ext>
            </a:extLst>
          </p:cNvPr>
          <p:cNvSpPr txBox="1"/>
          <p:nvPr/>
        </p:nvSpPr>
        <p:spPr>
          <a:xfrm>
            <a:off x="736600" y="2565400"/>
            <a:ext cx="4381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400" b="1">
                <a:solidFill>
                  <a:srgbClr val="0E8186"/>
                </a:solidFill>
                <a:latin typeface="Tahoma" panose="020B0604030504040204" pitchFamily="34" charset="0"/>
              </a:rPr>
              <a:t>38 ฝึก   /   10 ตรวจ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E034FB2-E235-BDA1-EC3F-72C31092BDBB}"/>
              </a:ext>
            </a:extLst>
          </p:cNvPr>
          <p:cNvSpPr txBox="1"/>
          <p:nvPr/>
        </p:nvSpPr>
        <p:spPr>
          <a:xfrm>
            <a:off x="6680200" y="1803400"/>
            <a:ext cx="4152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500" b="1">
                <a:solidFill>
                  <a:srgbClr val="11324D"/>
                </a:solidFill>
                <a:latin typeface="Tahoma" panose="020B0604030504040204" pitchFamily="34" charset="0"/>
              </a:rPr>
              <a:t>ภาพใหม่ต่างฉาก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4971CCC3-928C-69C3-D794-77CB04F5CBB7}"/>
              </a:ext>
            </a:extLst>
          </p:cNvPr>
          <p:cNvSpPr txBox="1"/>
          <p:nvPr/>
        </p:nvSpPr>
        <p:spPr>
          <a:xfrm>
            <a:off x="6680200" y="2565400"/>
            <a:ext cx="4305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400" b="1">
                <a:solidFill>
                  <a:srgbClr val="CD682A"/>
                </a:solidFill>
                <a:latin typeface="Tahoma" panose="020B0604030504040204" pitchFamily="34" charset="0"/>
              </a:rPr>
              <a:t>6 กันไว้ทดสอบ</a:t>
            </a:r>
          </a:p>
        </p:txBody>
      </p:sp>
      <p:cxnSp>
        <p:nvCxnSpPr>
          <p:cNvPr id="12" name="ตัวเชื่อมต่อตรง 11">
            <a:extLst>
              <a:ext uri="{FF2B5EF4-FFF2-40B4-BE49-F238E27FC236}">
                <a16:creationId xmlns:a16="http://schemas.microsoft.com/office/drawing/2014/main" id="{E7C0C7C1-D560-BF76-91E2-30F4C2389C19}"/>
              </a:ext>
            </a:extLst>
          </p:cNvPr>
          <p:cNvCxnSpPr/>
          <p:nvPr/>
        </p:nvCxnSpPr>
        <p:spPr>
          <a:xfrm>
            <a:off x="711200" y="3556000"/>
            <a:ext cx="10731500" cy="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1EF03A61-F72B-AA0F-D406-18C315BAAE1F}"/>
              </a:ext>
            </a:extLst>
          </p:cNvPr>
          <p:cNvSpPr txBox="1"/>
          <p:nvPr/>
        </p:nvSpPr>
        <p:spPr>
          <a:xfrm>
            <a:off x="736600" y="3949700"/>
            <a:ext cx="1041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>
                <a:solidFill>
                  <a:srgbClr val="202F3A"/>
                </a:solidFill>
                <a:latin typeface="Tahoma" panose="020B0604030504040204" pitchFamily="34" charset="0"/>
              </a:rPr>
              <a:t>YOLOv8n pretrained → fine-tune </a:t>
            </a:r>
            <a:r>
              <a:rPr lang="th-TH" sz="2200">
                <a:solidFill>
                  <a:srgbClr val="202F3A"/>
                </a:solidFill>
                <a:latin typeface="Tahoma" panose="020B0604030504040204" pitchFamily="34" charset="0"/>
              </a:rPr>
              <a:t>บน </a:t>
            </a:r>
            <a:r>
              <a:rPr lang="en-US" sz="2200">
                <a:solidFill>
                  <a:srgbClr val="202F3A"/>
                </a:solidFill>
                <a:latin typeface="Tahoma" panose="020B0604030504040204" pitchFamily="34" charset="0"/>
              </a:rPr>
              <a:t>CPU → </a:t>
            </a:r>
            <a:r>
              <a:rPr lang="th-TH" sz="2200">
                <a:solidFill>
                  <a:srgbClr val="202F3A"/>
                </a:solidFill>
                <a:latin typeface="Tahoma" panose="020B0604030504040204" pitchFamily="34" charset="0"/>
              </a:rPr>
              <a:t>ตรวจทั้งชุดเดิมและชุดใหม่โดยไม่ฝึกเพิ่ม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76AC160B-D59D-7D7B-85B6-C6035C2006BB}"/>
              </a:ext>
            </a:extLst>
          </p:cNvPr>
          <p:cNvSpPr txBox="1"/>
          <p:nvPr/>
        </p:nvSpPr>
        <p:spPr>
          <a:xfrm>
            <a:off x="736600" y="5181600"/>
            <a:ext cx="10528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ภาพ 5 ใบจากผู้สมัครเดิมกันออกเพราะหลายเอกสารในภาพหรือสงสัยธุรกรรมใกล้ซ้ำ</a:t>
            </a:r>
          </a:p>
        </p:txBody>
      </p:sp>
    </p:spTree>
    <p:extLst>
      <p:ext uri="{BB962C8B-B14F-4D97-AF65-F5344CB8AC3E}">
        <p14:creationId xmlns:p14="http://schemas.microsoft.com/office/powerpoint/2010/main" val="363879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86C9D64E-8357-360E-1EF4-4F182EB7D95D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FFBD08B-D5AE-D555-3BD5-36432AAD4EE5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ผลตรวจจับ: เมื่อเปลี่ยนฉาก คะแนนลดลง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38452312-F43A-5A00-EBC0-CB91B8FB4B4E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mAP@0.5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ของโมเดลเดิมที่ไม่ได้ฝึกด้วยภาพใหม่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07AFA30E-663F-C2C6-8FE2-0BFA01510A23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A9BAA35B-C993-BD36-D961-8F862A1D4379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747599E2-86CE-1BEF-CD9D-9328E727AA3B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8C8FD4A6-3192-E167-789A-F8833E2B48DB}"/>
              </a:ext>
            </a:extLst>
          </p:cNvPr>
          <p:cNvSpPr txBox="1"/>
          <p:nvPr/>
        </p:nvSpPr>
        <p:spPr>
          <a:xfrm>
            <a:off x="787400" y="1841500"/>
            <a:ext cx="4229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500" b="1">
                <a:solidFill>
                  <a:srgbClr val="0E8186"/>
                </a:solidFill>
                <a:latin typeface="Tahoma" panose="020B0604030504040204" pitchFamily="34" charset="0"/>
              </a:rPr>
              <a:t>0.928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4C0E2DA6-071D-6751-1149-CA7D6B7C56CD}"/>
              </a:ext>
            </a:extLst>
          </p:cNvPr>
          <p:cNvSpPr txBox="1"/>
          <p:nvPr/>
        </p:nvSpPr>
        <p:spPr>
          <a:xfrm>
            <a:off x="812800" y="3048000"/>
            <a:ext cx="431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ฉากเดิม 10 ภาพ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70AFA4BF-47B3-DB0E-D360-2C679AB0D8D7}"/>
              </a:ext>
            </a:extLst>
          </p:cNvPr>
          <p:cNvSpPr txBox="1"/>
          <p:nvPr/>
        </p:nvSpPr>
        <p:spPr>
          <a:xfrm>
            <a:off x="7200900" y="1841500"/>
            <a:ext cx="4203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5500" b="1">
                <a:solidFill>
                  <a:srgbClr val="CD682A"/>
                </a:solidFill>
                <a:latin typeface="Tahoma" panose="020B0604030504040204" pitchFamily="34" charset="0"/>
              </a:rPr>
              <a:t>0.237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3A409092-12DC-518D-394A-30805A43FCFF}"/>
              </a:ext>
            </a:extLst>
          </p:cNvPr>
          <p:cNvSpPr txBox="1"/>
          <p:nvPr/>
        </p:nvSpPr>
        <p:spPr>
          <a:xfrm>
            <a:off x="7226300" y="3048000"/>
            <a:ext cx="4229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ต่างฉาก 6 ภาพ</a:t>
            </a:r>
          </a:p>
        </p:txBody>
      </p:sp>
      <p:sp>
        <p:nvSpPr>
          <p:cNvPr id="12" name="สี่เหลี่ยมผืนผ้า 11">
            <a:extLst>
              <a:ext uri="{FF2B5EF4-FFF2-40B4-BE49-F238E27FC236}">
                <a16:creationId xmlns:a16="http://schemas.microsoft.com/office/drawing/2014/main" id="{E38F66FC-E0DD-733D-8BF6-6A0AB84EA69C}"/>
              </a:ext>
            </a:extLst>
          </p:cNvPr>
          <p:cNvSpPr/>
          <p:nvPr/>
        </p:nvSpPr>
        <p:spPr>
          <a:xfrm>
            <a:off x="838200" y="3886200"/>
            <a:ext cx="9779000" cy="254000"/>
          </a:xfrm>
          <a:prstGeom prst="rect">
            <a:avLst/>
          </a:prstGeom>
          <a:solidFill>
            <a:srgbClr val="E5EB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2CBB1349-B52E-FA50-0FAB-F9C6EE17268D}"/>
              </a:ext>
            </a:extLst>
          </p:cNvPr>
          <p:cNvSpPr/>
          <p:nvPr/>
        </p:nvSpPr>
        <p:spPr>
          <a:xfrm>
            <a:off x="838200" y="3886200"/>
            <a:ext cx="9074912" cy="254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E5620E26-6EC7-E93B-6E6F-3913B0FCD73D}"/>
              </a:ext>
            </a:extLst>
          </p:cNvPr>
          <p:cNvSpPr/>
          <p:nvPr/>
        </p:nvSpPr>
        <p:spPr>
          <a:xfrm>
            <a:off x="838200" y="4483100"/>
            <a:ext cx="9779000" cy="254000"/>
          </a:xfrm>
          <a:prstGeom prst="rect">
            <a:avLst/>
          </a:prstGeom>
          <a:solidFill>
            <a:srgbClr val="E5EB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75AA3261-8FCC-D809-E213-BA28934AF7F4}"/>
              </a:ext>
            </a:extLst>
          </p:cNvPr>
          <p:cNvSpPr/>
          <p:nvPr/>
        </p:nvSpPr>
        <p:spPr>
          <a:xfrm>
            <a:off x="838200" y="4483100"/>
            <a:ext cx="2317623" cy="254000"/>
          </a:xfrm>
          <a:prstGeom prst="rect">
            <a:avLst/>
          </a:prstGeom>
          <a:solidFill>
            <a:srgbClr val="CD68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3A9D2BF8-6597-E5D6-1F5F-842D6B00A768}"/>
              </a:ext>
            </a:extLst>
          </p:cNvPr>
          <p:cNvSpPr txBox="1"/>
          <p:nvPr/>
        </p:nvSpPr>
        <p:spPr>
          <a:xfrm>
            <a:off x="838200" y="5207000"/>
            <a:ext cx="1016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ผลเบื้องต้น: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n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เล็ก,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label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ตรวจจากภาพโดยผู้ช่วย, ภาพฉากเดิมคล้ายกัน</a:t>
            </a:r>
          </a:p>
        </p:txBody>
      </p:sp>
    </p:spTree>
    <p:extLst>
      <p:ext uri="{BB962C8B-B14F-4D97-AF65-F5344CB8AC3E}">
        <p14:creationId xmlns:p14="http://schemas.microsoft.com/office/powerpoint/2010/main" val="135834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CB0BAD1D-11A5-74D6-F05B-449B9323678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594CCC94-9FE6-D7C6-C131-B8235E5577DD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กรณีพลาด: กรอบคะแนนสูงสุดจับพื้นหลัง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E069CF86-5590-A6AC-8EDE-1AC78F1129CD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ชุดต่างฉากแสดงปัญหา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generalization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ของตัวตรวจจับ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C90DA149-7761-4667-1DFC-DA449B94C067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E0BC74FF-D298-5152-7749-E9AC6B0E9F14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CC8A4B31-C257-B5A5-B563-2CC10C8DFBF6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812009C7-DB6F-78BB-567E-BE87BEAB5511}"/>
              </a:ext>
            </a:extLst>
          </p:cNvPr>
          <p:cNvSpPr/>
          <p:nvPr/>
        </p:nvSpPr>
        <p:spPr>
          <a:xfrm>
            <a:off x="876300" y="1917700"/>
            <a:ext cx="4635500" cy="3162300"/>
          </a:xfrm>
          <a:prstGeom prst="rect">
            <a:avLst/>
          </a:prstGeom>
          <a:solidFill>
            <a:srgbClr val="E0E4E6"/>
          </a:solidFill>
          <a:ln w="12700">
            <a:solidFill>
              <a:srgbClr val="D4E0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6CC8E7D6-E815-FA88-89FE-20E3E915B2A5}"/>
              </a:ext>
            </a:extLst>
          </p:cNvPr>
          <p:cNvSpPr/>
          <p:nvPr/>
        </p:nvSpPr>
        <p:spPr>
          <a:xfrm>
            <a:off x="2120900" y="2628900"/>
            <a:ext cx="2146300" cy="1765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81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D2B57DD-2E4F-B1FC-1B1E-FFC3661AAB1D}"/>
              </a:ext>
            </a:extLst>
          </p:cNvPr>
          <p:cNvSpPr txBox="1"/>
          <p:nvPr/>
        </p:nvSpPr>
        <p:spPr>
          <a:xfrm>
            <a:off x="2413000" y="3314700"/>
            <a:ext cx="158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th-TH" sz="1800" b="1">
                <a:solidFill>
                  <a:srgbClr val="202F3A"/>
                </a:solidFill>
                <a:latin typeface="Tahoma" panose="020B0604030504040204" pitchFamily="34" charset="0"/>
              </a:rPr>
              <a:t>ใบซื้อสินค้า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1517B478-DC90-23A6-6839-8E00DDD37271}"/>
              </a:ext>
            </a:extLst>
          </p:cNvPr>
          <p:cNvSpPr/>
          <p:nvPr/>
        </p:nvSpPr>
        <p:spPr>
          <a:xfrm>
            <a:off x="1016000" y="2044700"/>
            <a:ext cx="4368800" cy="2908300"/>
          </a:xfrm>
          <a:prstGeom prst="rect">
            <a:avLst/>
          </a:prstGeom>
          <a:solidFill>
            <a:srgbClr val="E0E4E6">
              <a:alpha val="0"/>
            </a:srgbClr>
          </a:solidFill>
          <a:ln w="38100">
            <a:solidFill>
              <a:srgbClr val="CD68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23916A6B-8D43-6468-FE60-C58B3549B267}"/>
              </a:ext>
            </a:extLst>
          </p:cNvPr>
          <p:cNvSpPr txBox="1"/>
          <p:nvPr/>
        </p:nvSpPr>
        <p:spPr>
          <a:xfrm>
            <a:off x="5892800" y="2146300"/>
            <a:ext cx="5092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200" b="1">
                <a:solidFill>
                  <a:srgbClr val="0E8186"/>
                </a:solidFill>
                <a:latin typeface="Tahoma" panose="020B0604030504040204" pitchFamily="34" charset="0"/>
              </a:rPr>
              <a:t>กรอบที่ต้องการ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ECFD940D-24DB-624B-CD58-DD1AC3242049}"/>
              </a:ext>
            </a:extLst>
          </p:cNvPr>
          <p:cNvSpPr txBox="1"/>
          <p:nvPr/>
        </p:nvSpPr>
        <p:spPr>
          <a:xfrm>
            <a:off x="5892800" y="2641600"/>
            <a:ext cx="50419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เฉพาะบริเวณกระดาษ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80D72C0B-4C25-3073-3437-F6A999AF37EA}"/>
              </a:ext>
            </a:extLst>
          </p:cNvPr>
          <p:cNvSpPr txBox="1"/>
          <p:nvPr/>
        </p:nvSpPr>
        <p:spPr>
          <a:xfrm>
            <a:off x="5892800" y="3505200"/>
            <a:ext cx="5092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200" b="1">
                <a:solidFill>
                  <a:srgbClr val="CD682A"/>
                </a:solidFill>
                <a:latin typeface="Tahoma" panose="020B0604030504040204" pitchFamily="34" charset="0"/>
              </a:rPr>
              <a:t>กรอบที่โมเดลเลือกผิด</a:t>
            </a: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6A369D48-08CB-0997-D095-01510720328D}"/>
              </a:ext>
            </a:extLst>
          </p:cNvPr>
          <p:cNvSpPr txBox="1"/>
          <p:nvPr/>
        </p:nvSpPr>
        <p:spPr>
          <a:xfrm>
            <a:off x="5892800" y="4000500"/>
            <a:ext cx="520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ครอบทั้งภาพหรือเพียงบางส่วน</a:t>
            </a: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C4DE4A9E-F637-4BBA-AA2A-453E8A80C9B3}"/>
              </a:ext>
            </a:extLst>
          </p:cNvPr>
          <p:cNvSpPr txBox="1"/>
          <p:nvPr/>
        </p:nvSpPr>
        <p:spPr>
          <a:xfrm>
            <a:off x="901700" y="5397500"/>
            <a:ext cx="105283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700" b="1">
                <a:solidFill>
                  <a:srgbClr val="202F3A"/>
                </a:solidFill>
                <a:latin typeface="Tahoma" panose="020B0604030504040204" pitchFamily="34" charset="0"/>
              </a:rPr>
              <a:t>ภาพต่างฉาก 6 ภาพ: กรอบ </a:t>
            </a:r>
            <a:r>
              <a:rPr lang="en-US" sz="1700" b="1">
                <a:solidFill>
                  <a:srgbClr val="202F3A"/>
                </a:solidFill>
                <a:latin typeface="Tahoma" panose="020B0604030504040204" pitchFamily="34" charset="0"/>
              </a:rPr>
              <a:t>confidence </a:t>
            </a:r>
            <a:r>
              <a:rPr lang="th-TH" sz="1700" b="1">
                <a:solidFill>
                  <a:srgbClr val="202F3A"/>
                </a:solidFill>
                <a:latin typeface="Tahoma" panose="020B0604030504040204" pitchFamily="34" charset="0"/>
              </a:rPr>
              <a:t>สูงสุด </a:t>
            </a:r>
            <a:r>
              <a:rPr lang="en-US" sz="1700" b="1">
                <a:solidFill>
                  <a:srgbClr val="202F3A"/>
                </a:solidFill>
                <a:latin typeface="Tahoma" panose="020B0604030504040204" pitchFamily="34" charset="0"/>
              </a:rPr>
              <a:t>IoU≥0.5 </a:t>
            </a:r>
            <a:r>
              <a:rPr lang="th-TH" sz="1700" b="1">
                <a:solidFill>
                  <a:srgbClr val="202F3A"/>
                </a:solidFill>
                <a:latin typeface="Tahoma" panose="020B0604030504040204" pitchFamily="34" charset="0"/>
              </a:rPr>
              <a:t>เพียง 1 ภาพ</a:t>
            </a:r>
          </a:p>
        </p:txBody>
      </p:sp>
    </p:spTree>
    <p:extLst>
      <p:ext uri="{BB962C8B-B14F-4D97-AF65-F5344CB8AC3E}">
        <p14:creationId xmlns:p14="http://schemas.microsoft.com/office/powerpoint/2010/main" val="1928174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044EECA-E330-765C-5EF5-C51A31A624F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2B03624-D85A-F9CB-EADC-900E65EB4ADB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OCR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และ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RKNN: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สถานะจริงของ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pipeline</a:t>
            </a:r>
            <a:endParaRPr lang="th-TH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ED6325B9-A0C4-9AA9-7CEE-291B217A4B4B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แยก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PC baseline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ออกจาก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PC-side SDK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และบอร์ดจริง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864259CF-E2DC-CA3C-E20A-80DD68468ED0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6E444DD6-AA34-4214-DC3E-86F6C423664F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AAE0C8CE-0804-6918-1399-2F78DE3A4B6B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61B2E36C-C1DE-3AFE-4489-72D06204A4C3}"/>
              </a:ext>
            </a:extLst>
          </p:cNvPr>
          <p:cNvSpPr txBox="1"/>
          <p:nvPr/>
        </p:nvSpPr>
        <p:spPr>
          <a:xfrm>
            <a:off x="723900" y="1841500"/>
            <a:ext cx="5092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11324D"/>
                </a:solidFill>
                <a:latin typeface="Tahoma" panose="020B0604030504040204" pitchFamily="34" charset="0"/>
              </a:rPr>
              <a:t>EasyOCR </a:t>
            </a:r>
            <a:r>
              <a:rPr lang="th-TH" sz="2300" b="1">
                <a:solidFill>
                  <a:srgbClr val="11324D"/>
                </a:solidFill>
                <a:latin typeface="Tahoma" panose="020B0604030504040204" pitchFamily="34" charset="0"/>
              </a:rPr>
              <a:t>ไทย/อังกฤษ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6DCA4AE6-28D3-8C97-C1BC-0CCEE954AA8D}"/>
              </a:ext>
            </a:extLst>
          </p:cNvPr>
          <p:cNvSpPr txBox="1"/>
          <p:nvPr/>
        </p:nvSpPr>
        <p:spPr>
          <a:xfrm>
            <a:off x="723900" y="25019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000" b="1">
                <a:solidFill>
                  <a:srgbClr val="0E8186"/>
                </a:solidFill>
                <a:latin typeface="Tahoma" panose="020B0604030504040204" pitchFamily="34" charset="0"/>
              </a:rPr>
              <a:t>3 ภาพพิมพ์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BE37125-28AA-C49C-CAC5-B39C79A424EA}"/>
              </a:ext>
            </a:extLst>
          </p:cNvPr>
          <p:cNvSpPr txBox="1"/>
          <p:nvPr/>
        </p:nvSpPr>
        <p:spPr>
          <a:xfrm>
            <a:off x="723900" y="3035300"/>
            <a:ext cx="5016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00">
                <a:solidFill>
                  <a:srgbClr val="202F3A"/>
                </a:solidFill>
                <a:latin typeface="Tahoma" panose="020B0604030504040204" pitchFamily="34" charset="0"/>
              </a:rPr>
              <a:t>spot-check </a:t>
            </a:r>
            <a:r>
              <a:rPr lang="th-TH" sz="1800">
                <a:solidFill>
                  <a:srgbClr val="202F3A"/>
                </a:solidFill>
                <a:latin typeface="Tahoma" panose="020B0604030504040204" pitchFamily="34" charset="0"/>
              </a:rPr>
              <a:t>วันที่/ยอดตรง 4 จาก 6 ช่อง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833FCE35-FB7A-00E6-91BA-8E80B2704551}"/>
              </a:ext>
            </a:extLst>
          </p:cNvPr>
          <p:cNvSpPr txBox="1"/>
          <p:nvPr/>
        </p:nvSpPr>
        <p:spPr>
          <a:xfrm>
            <a:off x="723900" y="4127500"/>
            <a:ext cx="5003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ยังไม่ใช่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CER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หรือการสกัด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field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อัตโนมัติ</a:t>
            </a:r>
          </a:p>
        </p:txBody>
      </p:sp>
      <p:cxnSp>
        <p:nvCxnSpPr>
          <p:cNvPr id="12" name="ตัวเชื่อมต่อตรง 11">
            <a:extLst>
              <a:ext uri="{FF2B5EF4-FFF2-40B4-BE49-F238E27FC236}">
                <a16:creationId xmlns:a16="http://schemas.microsoft.com/office/drawing/2014/main" id="{89201A22-F8DB-DCF0-3000-97C133081CE2}"/>
              </a:ext>
            </a:extLst>
          </p:cNvPr>
          <p:cNvCxnSpPr/>
          <p:nvPr/>
        </p:nvCxnSpPr>
        <p:spPr>
          <a:xfrm>
            <a:off x="6134100" y="1765300"/>
            <a:ext cx="0" cy="3365500"/>
          </a:xfrm>
          <a:prstGeom prst="line">
            <a:avLst/>
          </a:prstGeom>
          <a:ln w="254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B7D8D8DC-76B1-0B81-285B-C26100695063}"/>
              </a:ext>
            </a:extLst>
          </p:cNvPr>
          <p:cNvSpPr txBox="1"/>
          <p:nvPr/>
        </p:nvSpPr>
        <p:spPr>
          <a:xfrm>
            <a:off x="6680200" y="1841500"/>
            <a:ext cx="4838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11324D"/>
                </a:solidFill>
                <a:latin typeface="Tahoma" panose="020B0604030504040204" pitchFamily="34" charset="0"/>
              </a:rPr>
              <a:t>RKNN Toolkit2 </a:t>
            </a:r>
            <a:r>
              <a:rPr lang="th-TH" sz="2300" b="1">
                <a:solidFill>
                  <a:srgbClr val="11324D"/>
                </a:solidFill>
                <a:latin typeface="Tahoma" panose="020B0604030504040204" pitchFamily="34" charset="0"/>
              </a:rPr>
              <a:t>บน </a:t>
            </a:r>
            <a:r>
              <a:rPr lang="en-US" sz="2300" b="1">
                <a:solidFill>
                  <a:srgbClr val="11324D"/>
                </a:solidFill>
                <a:latin typeface="Tahoma" panose="020B0604030504040204" pitchFamily="34" charset="0"/>
              </a:rPr>
              <a:t>PC</a:t>
            </a:r>
            <a:endParaRPr lang="th-TH" sz="2300" b="1">
              <a:solidFill>
                <a:srgbClr val="11324D"/>
              </a:solidFill>
              <a:latin typeface="Tahoma" panose="020B0604030504040204" pitchFamily="34" charset="0"/>
            </a:endParaRP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D949B66C-7633-6DB3-BEF3-6535BEE821B2}"/>
              </a:ext>
            </a:extLst>
          </p:cNvPr>
          <p:cNvSpPr txBox="1"/>
          <p:nvPr/>
        </p:nvSpPr>
        <p:spPr>
          <a:xfrm>
            <a:off x="6680200" y="2501900"/>
            <a:ext cx="48387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328661"/>
                </a:solidFill>
                <a:latin typeface="Tahoma" panose="020B0604030504040204" pitchFamily="34" charset="0"/>
              </a:rPr>
              <a:t>ONNX → RKNN → PC inference: </a:t>
            </a:r>
            <a:r>
              <a:rPr lang="th-TH" sz="1900" b="1">
                <a:solidFill>
                  <a:srgbClr val="328661"/>
                </a:solidFill>
                <a:latin typeface="Tahoma" panose="020B0604030504040204" pitchFamily="34" charset="0"/>
              </a:rPr>
              <a:t>สำเร็จ</a:t>
            </a: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C6CE3063-121F-542A-C5A8-464932F5BC77}"/>
              </a:ext>
            </a:extLst>
          </p:cNvPr>
          <p:cNvSpPr txBox="1"/>
          <p:nvPr/>
        </p:nvSpPr>
        <p:spPr>
          <a:xfrm>
            <a:off x="6680200" y="3657600"/>
            <a:ext cx="482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>
                <a:solidFill>
                  <a:srgbClr val="202F3A"/>
                </a:solidFill>
                <a:latin typeface="Tahoma" panose="020B0604030504040204" pitchFamily="34" charset="0"/>
              </a:rPr>
              <a:t>เป้าหมาย </a:t>
            </a:r>
            <a:r>
              <a:rPr lang="en-US" sz="1600">
                <a:solidFill>
                  <a:srgbClr val="202F3A"/>
                </a:solidFill>
                <a:latin typeface="Tahoma" panose="020B0604030504040204" pitchFamily="34" charset="0"/>
              </a:rPr>
              <a:t>RK3588, float build, output (1,5,2100)</a:t>
            </a:r>
            <a:endParaRPr lang="th-TH" sz="1600">
              <a:solidFill>
                <a:srgbClr val="202F3A"/>
              </a:solidFill>
              <a:latin typeface="Tahoma" panose="020B0604030504040204" pitchFamily="34" charset="0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74CEA78D-867B-CC1D-A3F9-B9B6E66B235F}"/>
              </a:ext>
            </a:extLst>
          </p:cNvPr>
          <p:cNvSpPr txBox="1"/>
          <p:nvPr/>
        </p:nvSpPr>
        <p:spPr>
          <a:xfrm>
            <a:off x="6680200" y="4673600"/>
            <a:ext cx="4775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CD682A"/>
                </a:solidFill>
                <a:latin typeface="Tahoma" panose="020B0604030504040204" pitchFamily="34" charset="0"/>
              </a:rPr>
              <a:t>ยังไม่มี </a:t>
            </a:r>
            <a:r>
              <a:rPr lang="en-US" sz="1500">
                <a:solidFill>
                  <a:srgbClr val="CD682A"/>
                </a:solidFill>
                <a:latin typeface="Tahoma" panose="020B0604030504040204" pitchFamily="34" charset="0"/>
              </a:rPr>
              <a:t>latency / </a:t>
            </a:r>
            <a:r>
              <a:rPr lang="th-TH" sz="1500">
                <a:solidFill>
                  <a:srgbClr val="CD682A"/>
                </a:solidFill>
                <a:latin typeface="Tahoma" panose="020B0604030504040204" pitchFamily="34" charset="0"/>
              </a:rPr>
              <a:t>พลังงานจาก </a:t>
            </a:r>
            <a:r>
              <a:rPr lang="en-US" sz="1500">
                <a:solidFill>
                  <a:srgbClr val="CD682A"/>
                </a:solidFill>
                <a:latin typeface="Tahoma" panose="020B0604030504040204" pitchFamily="34" charset="0"/>
              </a:rPr>
              <a:t>NPU </a:t>
            </a:r>
            <a:r>
              <a:rPr lang="th-TH" sz="1500">
                <a:solidFill>
                  <a:srgbClr val="CD682A"/>
                </a:solidFill>
                <a:latin typeface="Tahoma" panose="020B0604030504040204" pitchFamily="34" charset="0"/>
              </a:rPr>
              <a:t>จริง</a:t>
            </a:r>
          </a:p>
        </p:txBody>
      </p:sp>
    </p:spTree>
    <p:extLst>
      <p:ext uri="{BB962C8B-B14F-4D97-AF65-F5344CB8AC3E}">
        <p14:creationId xmlns:p14="http://schemas.microsoft.com/office/powerpoint/2010/main" val="2633926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D85BD3FC-56BC-7BD4-3CDA-6F551DD2F982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1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61598C9F-878F-98EE-2399-F5BAD94E936F}"/>
              </a:ext>
            </a:extLst>
          </p:cNvPr>
          <p:cNvSpPr txBox="1"/>
          <p:nvPr/>
        </p:nvSpPr>
        <p:spPr>
          <a:xfrm>
            <a:off x="609600" y="4445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งานถัดไปสำหรับ </a:t>
            </a:r>
            <a:r>
              <a:rPr lang="en-US" b="1">
                <a:solidFill>
                  <a:srgbClr val="11324D"/>
                </a:solidFill>
                <a:latin typeface="Tahoma" panose="020B0604030504040204" pitchFamily="34" charset="0"/>
              </a:rPr>
              <a:t>Ass6 </a:t>
            </a:r>
            <a:r>
              <a:rPr lang="th-TH" b="1">
                <a:solidFill>
                  <a:srgbClr val="11324D"/>
                </a:solidFill>
                <a:latin typeface="Tahoma" panose="020B0604030504040204" pitchFamily="34" charset="0"/>
              </a:rPr>
              <a:t>และวิทยานิพนธ์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C9243DAE-23C5-D742-A78D-A1B7634CF5BC}"/>
              </a:ext>
            </a:extLst>
          </p:cNvPr>
          <p:cNvSpPr txBox="1"/>
          <p:nvPr/>
        </p:nvSpPr>
        <p:spPr>
          <a:xfrm>
            <a:off x="635000" y="1117600"/>
            <a:ext cx="10541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ผล </a:t>
            </a:r>
            <a:r>
              <a:rPr lang="en-US" sz="1500">
                <a:solidFill>
                  <a:srgbClr val="586974"/>
                </a:solidFill>
                <a:latin typeface="Tahoma" panose="020B0604030504040204" pitchFamily="34" charset="0"/>
              </a:rPr>
              <a:t>pilot </a:t>
            </a:r>
            <a:r>
              <a:rPr lang="th-TH" sz="1500">
                <a:solidFill>
                  <a:srgbClr val="586974"/>
                </a:solidFill>
                <a:latin typeface="Tahoma" panose="020B0604030504040204" pitchFamily="34" charset="0"/>
              </a:rPr>
              <a:t>นี้บอกทั้งสิ่งที่ทำได้และสิ่งที่ต้องแก้</a:t>
            </a:r>
          </a:p>
        </p:txBody>
      </p:sp>
      <p:cxnSp>
        <p:nvCxnSpPr>
          <p:cNvPr id="5" name="ตัวเชื่อมต่อตรง 4">
            <a:extLst>
              <a:ext uri="{FF2B5EF4-FFF2-40B4-BE49-F238E27FC236}">
                <a16:creationId xmlns:a16="http://schemas.microsoft.com/office/drawing/2014/main" id="{546E9DCC-A464-5CE1-FE76-D6914451CE62}"/>
              </a:ext>
            </a:extLst>
          </p:cNvPr>
          <p:cNvCxnSpPr/>
          <p:nvPr/>
        </p:nvCxnSpPr>
        <p:spPr>
          <a:xfrm>
            <a:off x="622300" y="6146800"/>
            <a:ext cx="10883900" cy="0"/>
          </a:xfrm>
          <a:prstGeom prst="line">
            <a:avLst/>
          </a:prstGeom>
          <a:ln w="12700">
            <a:solidFill>
              <a:srgbClr val="D4E0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3BFBF897-1430-EC6C-5AAA-672CFCCA0163}"/>
              </a:ext>
            </a:extLst>
          </p:cNvPr>
          <p:cNvSpPr txBox="1"/>
          <p:nvPr/>
        </p:nvSpPr>
        <p:spPr>
          <a:xfrm>
            <a:off x="635000" y="6261100"/>
            <a:ext cx="952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586974"/>
                </a:solidFill>
                <a:latin typeface="Tahoma" panose="020B0604030504040204" pitchFamily="34" charset="0"/>
              </a:rPr>
              <a:t>Assignment 5  |  e-Eye PC pilot  |  17 </a:t>
            </a:r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ต.ค. 2569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321F6F31-AF1C-868D-2B01-30663F43FED6}"/>
              </a:ext>
            </a:extLst>
          </p:cNvPr>
          <p:cNvSpPr txBox="1"/>
          <p:nvPr/>
        </p:nvSpPr>
        <p:spPr>
          <a:xfrm>
            <a:off x="11125200" y="6261100"/>
            <a:ext cx="355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th-TH" sz="1000">
                <a:solidFill>
                  <a:srgbClr val="586974"/>
                </a:solidFill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15ECC19F-BA8D-95AE-0903-4C454240E216}"/>
              </a:ext>
            </a:extLst>
          </p:cNvPr>
          <p:cNvSpPr txBox="1"/>
          <p:nvPr/>
        </p:nvSpPr>
        <p:spPr>
          <a:xfrm>
            <a:off x="736600" y="1854200"/>
            <a:ext cx="66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0E8186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F2A9436B-C2B9-8A7D-1A77-0FD462711237}"/>
              </a:ext>
            </a:extLst>
          </p:cNvPr>
          <p:cNvSpPr txBox="1"/>
          <p:nvPr/>
        </p:nvSpPr>
        <p:spPr>
          <a:xfrm>
            <a:off x="1422400" y="1879600"/>
            <a:ext cx="9563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ตรวจ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label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และทำเฉลย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OCR/JSON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โดยคนสองรอบ</a:t>
            </a: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51702B3F-DD0A-8EB1-B137-E918A9978724}"/>
              </a:ext>
            </a:extLst>
          </p:cNvPr>
          <p:cNvSpPr txBox="1"/>
          <p:nvPr/>
        </p:nvSpPr>
        <p:spPr>
          <a:xfrm>
            <a:off x="736600" y="2895600"/>
            <a:ext cx="66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0E8186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DF0E7604-ADE8-FADD-E6B7-2D1E883D3509}"/>
              </a:ext>
            </a:extLst>
          </p:cNvPr>
          <p:cNvSpPr txBox="1"/>
          <p:nvPr/>
        </p:nvSpPr>
        <p:spPr>
          <a:xfrm>
            <a:off x="1422400" y="2921000"/>
            <a:ext cx="9563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เพิ่มภาพหลายพื้น แสง และมุม แล้วกันชุดทดสอบใหม่ไว้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FA63DC38-DF98-DD45-F432-98D48E41EB6C}"/>
              </a:ext>
            </a:extLst>
          </p:cNvPr>
          <p:cNvSpPr txBox="1"/>
          <p:nvPr/>
        </p:nvSpPr>
        <p:spPr>
          <a:xfrm>
            <a:off x="736600" y="4203700"/>
            <a:ext cx="66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b="1">
                <a:solidFill>
                  <a:srgbClr val="0E8186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56992A59-E51A-676A-571D-30046D83E94E}"/>
              </a:ext>
            </a:extLst>
          </p:cNvPr>
          <p:cNvSpPr txBox="1"/>
          <p:nvPr/>
        </p:nvSpPr>
        <p:spPr>
          <a:xfrm>
            <a:off x="1422400" y="4229100"/>
            <a:ext cx="95631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ทดสอบ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JSON/LLM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และวัด </a:t>
            </a:r>
            <a:r>
              <a:rPr lang="en-US" sz="2100">
                <a:solidFill>
                  <a:srgbClr val="202F3A"/>
                </a:solidFill>
                <a:latin typeface="Tahoma" panose="020B0604030504040204" pitchFamily="34" charset="0"/>
              </a:rPr>
              <a:t>NPU </a:t>
            </a:r>
            <a:r>
              <a:rPr lang="th-TH" sz="2100">
                <a:solidFill>
                  <a:srgbClr val="202F3A"/>
                </a:solidFill>
                <a:latin typeface="Tahoma" panose="020B0604030504040204" pitchFamily="34" charset="0"/>
              </a:rPr>
              <a:t>จริงเมื่อบอร์ดพร้อม</a:t>
            </a:r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C10FE1AE-FB6A-6AB8-3E46-084696FFBCD5}"/>
              </a:ext>
            </a:extLst>
          </p:cNvPr>
          <p:cNvSpPr txBox="1"/>
          <p:nvPr/>
        </p:nvSpPr>
        <p:spPr>
          <a:xfrm>
            <a:off x="736600" y="5435600"/>
            <a:ext cx="10337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Ass6: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ใช้กรอบวิจัย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Ass4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และผล </a:t>
            </a:r>
            <a:r>
              <a:rPr lang="en-US" sz="1600">
                <a:solidFill>
                  <a:srgbClr val="586974"/>
                </a:solidFill>
                <a:latin typeface="Tahoma" panose="020B0604030504040204" pitchFamily="34" charset="0"/>
              </a:rPr>
              <a:t>PC pilot </a:t>
            </a:r>
            <a:r>
              <a:rPr lang="th-TH" sz="1600">
                <a:solidFill>
                  <a:srgbClr val="586974"/>
                </a:solidFill>
                <a:latin typeface="Tahoma" panose="020B0604030504040204" pitchFamily="34" charset="0"/>
              </a:rPr>
              <a:t>นี้กำหนดวิธีทดลอง พร้อมระบุข้อจำกัด</a:t>
            </a:r>
          </a:p>
        </p:txBody>
      </p:sp>
    </p:spTree>
    <p:extLst>
      <p:ext uri="{BB962C8B-B14F-4D97-AF65-F5344CB8AC3E}">
        <p14:creationId xmlns:p14="http://schemas.microsoft.com/office/powerpoint/2010/main" val="93012498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กำหนดเอง</PresentationFormat>
  <Paragraphs>100</Paragraphs>
  <Slides>10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ณัชพล เพ็งพล</dc:creator>
  <cp:lastModifiedBy>ณัชพล เพ็งพล</cp:lastModifiedBy>
  <cp:revision>1</cp:revision>
  <dcterms:created xsi:type="dcterms:W3CDTF">2026-10-17T08:20:29Z</dcterms:created>
  <dcterms:modified xsi:type="dcterms:W3CDTF">2026-10-17T08:20:29Z</dcterms:modified>
</cp:coreProperties>
</file>