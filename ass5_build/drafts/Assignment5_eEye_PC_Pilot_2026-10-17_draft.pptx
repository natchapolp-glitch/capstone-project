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04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6165676-1560-5DA2-11D9-E00D8DAB6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94675084-ED01-91C1-6474-25E311D75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EEC1BF4-1923-DD0C-D5F4-F1A6F599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F5F7FFF-F7E0-BA54-D7B5-D5DBB69C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0A6756B-C2E5-58D2-C409-BF16A827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4999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367E013-B8CB-9195-22BF-17EA36BE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DB6737E-3B1F-A496-8E7C-85714E32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443475C-9B56-0CD3-233C-69E18DC3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31E4D05-0728-8AB0-44A2-8C224545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C36FBE2-1741-F037-BB68-B1DEF3C7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9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BF1C2CD-3EE7-4BFA-0CCC-4F963736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DDCDA41-0C25-B773-2ABF-6E042E317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1E45DBF-AA12-66DE-D610-658389C8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CFC43D7-2B86-E191-6B08-6EB1A541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C36458E-01EF-3EAC-089A-935D49CA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485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EC48114-826B-4C85-6F90-C0CF9058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5792DAFD-6D9D-A02E-28E3-BCBCF8A27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F16CA3D0-B3B8-66EF-6BEC-9ABF1923B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CBBD759-5439-F46C-C3C7-EC196538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96290C7-D00F-B357-B1FD-2E0DF471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8CA4A264-52BE-10EC-1E39-B907BB72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387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A2D2CC8-7FC0-4CB4-B22D-D61DF44A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E204592D-40D5-8553-6EAE-01BB9B6ED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302850B-E231-C6E0-83B6-D2157F620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A093832E-73AC-022D-0A56-8C5D0BB19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6E4B6275-FCC7-37B8-B820-CB2364682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84D972C6-03B2-4200-087C-DA39D84A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57CCC012-81C5-F7FE-9A8B-8752B17A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B9F870C5-55AC-43B1-9D43-8CBFB4A4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643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00B77A3-D878-DDA9-EC24-641DAC29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9D6EC7AA-A2F9-CF4E-F9A3-311C0F80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47A79ACF-7AEF-E044-5692-522EE72C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918BCBE4-7289-C00A-9D30-09A287CD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0846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E10CF960-DE1D-31D1-8208-89990395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4099877-505C-D9BE-1E95-BE4EA983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228CB64-D7B5-D9A7-AC09-D5B05A39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169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689BAA5-C653-03D8-6F62-D6F1B664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D125781-62D9-3C6A-EF4D-57C6384D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11F79D81-DDFE-4FAF-8729-85F192060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66E7298-C0D5-E631-DA56-2889D940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828FF875-6810-2951-CC7C-6350B951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076A058-E217-2446-7628-A8A3F7C9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048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827495-4E1D-AB9A-7833-CDC67778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068BEA54-2DE6-1ADE-CF28-B4C670558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1E25E0A-7C11-E554-F9C6-A7864434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75511143-427C-4774-555E-BABDF113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0B75A95-2309-CC63-E54D-8085E3CC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8C71C54-C149-FF6C-11B1-CD7DB527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981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A55945D-8480-F029-80F8-69376D7C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344ACBD7-7A51-8CAB-4623-628384AD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DE55C7-0500-329C-B8F7-5F779375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887644C-118F-8C34-392E-1BB4B860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A69611D-0E7D-C1E7-169B-4CDB6401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9346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5B23D70-C8C5-98B4-1BDB-6AA614553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A9400C86-D85B-D890-9286-4E6BE5540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8146EED-71ED-E1B0-C2A4-2E6A82B1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CE4077E-9DD5-B5FE-9E08-ED0B8F87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B3DB581-14BC-300A-6403-954E660D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974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6C099E67-F347-7AB1-0386-31EA5E9B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92CA4711-C0DE-855D-FC00-0DAADB8D3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4A3722F-61D0-A3AE-4720-858130294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82E50-4B8B-43A3-BFD5-F28E4C9E377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D44E3D6-7268-8794-E1FC-4E55D085A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8EBB749-6D14-E3B8-557D-702108B06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DF4B-12BD-4D80-94B0-A05BAC4BA6B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805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0B2AD63-221D-CFBD-93A8-389ABD91C89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CEA55161-6360-FFA7-0280-5EBEA99B6144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Assignment 5: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ความคืบหน้าระบบ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e-Eye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1EAA8252-491D-39AB-6634-CD91A5D42660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ระบบประสาทส่วนกลางอัจฉริยะในที่พักอาศัย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897EC7D1-884A-E4BB-285E-D94728F05451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B83CEAFB-3668-3834-8A6C-9946EC28EC2A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560F50F-8B10-45E4-3D61-24DD96B53312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92B7F959-9439-E02E-4743-9DF31AF82B76}"/>
              </a:ext>
            </a:extLst>
          </p:cNvPr>
          <p:cNvSpPr txBox="1"/>
          <p:nvPr/>
        </p:nvSpPr>
        <p:spPr>
          <a:xfrm>
            <a:off x="647700" y="1955800"/>
            <a:ext cx="1047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3000" b="1">
                <a:solidFill>
                  <a:srgbClr val="202F3A"/>
                </a:solidFill>
                <a:latin typeface="Tahoma" panose="020B0604030504040204" pitchFamily="34" charset="0"/>
              </a:rPr>
              <a:t>จากกรอบวิจัย </a:t>
            </a:r>
            <a:r>
              <a:rPr lang="en-US" sz="3000" b="1">
                <a:solidFill>
                  <a:srgbClr val="202F3A"/>
                </a:solidFill>
                <a:latin typeface="Tahoma" panose="020B0604030504040204" pitchFamily="34" charset="0"/>
              </a:rPr>
              <a:t>Edge AI </a:t>
            </a:r>
            <a:r>
              <a:rPr lang="th-TH" sz="3000" b="1">
                <a:solidFill>
                  <a:srgbClr val="202F3A"/>
                </a:solidFill>
                <a:latin typeface="Tahoma" panose="020B0604030504040204" pitchFamily="34" charset="0"/>
              </a:rPr>
              <a:t>สู่การทดลองด้วยภาพใบซื้อสินค้าจริงบน </a:t>
            </a:r>
            <a:r>
              <a:rPr lang="en-US" sz="3000" b="1">
                <a:solidFill>
                  <a:srgbClr val="202F3A"/>
                </a:solidFill>
                <a:latin typeface="Tahoma" panose="020B0604030504040204" pitchFamily="34" charset="0"/>
              </a:rPr>
              <a:t>PC</a:t>
            </a:r>
            <a:endParaRPr lang="th-TH" sz="30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BDF02804-8AA4-FB67-9652-52776A1F35B8}"/>
              </a:ext>
            </a:extLst>
          </p:cNvPr>
          <p:cNvSpPr/>
          <p:nvPr/>
        </p:nvSpPr>
        <p:spPr>
          <a:xfrm>
            <a:off x="660400" y="3632200"/>
            <a:ext cx="1562100" cy="635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3753F641-814A-978A-832E-C4A89DFC0EC8}"/>
              </a:ext>
            </a:extLst>
          </p:cNvPr>
          <p:cNvSpPr txBox="1"/>
          <p:nvPr/>
        </p:nvSpPr>
        <p:spPr>
          <a:xfrm>
            <a:off x="673100" y="4076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ณัชพล เพ็งพล  |  ธนบดี เริ่มรักสกุล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C8EE3A0-426D-742D-A3EB-D1C7204CC64A}"/>
              </a:ext>
            </a:extLst>
          </p:cNvPr>
          <p:cNvSpPr txBox="1"/>
          <p:nvPr/>
        </p:nvSpPr>
        <p:spPr>
          <a:xfrm>
            <a:off x="673100" y="4584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อาจารย์ที่ปรึกษา ผศ.บุญทรัพย์ ไวคำ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A56C198-0E95-589F-AEE2-EEA06FFA8E8F}"/>
              </a:ext>
            </a:extLst>
          </p:cNvPr>
          <p:cNvSpPr txBox="1"/>
          <p:nvPr/>
        </p:nvSpPr>
        <p:spPr>
          <a:xfrm>
            <a:off x="673100" y="51054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สาขาวิชาวิทยาการคอมพิวเตอร์ มหาวิทยาลัยขอนแก่น</a:t>
            </a:r>
          </a:p>
        </p:txBody>
      </p:sp>
    </p:spTree>
    <p:extLst>
      <p:ext uri="{BB962C8B-B14F-4D97-AF65-F5344CB8AC3E}">
        <p14:creationId xmlns:p14="http://schemas.microsoft.com/office/powerpoint/2010/main" val="332701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C4D0024-C04B-2D7C-0F20-3D2115B997D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3F8D3B3D-4FCE-F443-1CA7-ADA8B7ED21E6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ภาพรวม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e-Senses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ของบ้าน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12304C7-9DB9-503B-527B-DA8D09ABC82A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วิทยานิพนธ์ระยะแรกศึกษาที่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e-Eye</a:t>
            </a:r>
            <a:endParaRPr lang="th-TH" sz="1500">
              <a:solidFill>
                <a:srgbClr val="586974"/>
              </a:solidFill>
              <a:latin typeface="Tahoma" panose="020B0604030504040204" pitchFamily="34" charset="0"/>
            </a:endParaRP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FC0C1A1E-4B3A-1EF5-426F-BC6E005979C1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92824F57-02AD-B5EC-DAE8-68F745E895D6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8A2C696-DBFB-2182-7F45-21251F06BEF7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72A1614E-D372-DAC8-9E1C-9FC622949D9E}"/>
              </a:ext>
            </a:extLst>
          </p:cNvPr>
          <p:cNvSpPr txBox="1"/>
          <p:nvPr/>
        </p:nvSpPr>
        <p:spPr>
          <a:xfrm>
            <a:off x="4140200" y="1752600"/>
            <a:ext cx="425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11324D"/>
                </a:solidFill>
                <a:latin typeface="Tahoma" panose="020B0604030504040204" pitchFamily="34" charset="0"/>
              </a:rPr>
              <a:t>Home Digital Nervous System</a:t>
            </a:r>
            <a:endParaRPr lang="th-TH" sz="22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2DBA450C-1A70-96E7-D463-A965805C4DA3}"/>
              </a:ext>
            </a:extLst>
          </p:cNvPr>
          <p:cNvCxnSpPr/>
          <p:nvPr/>
        </p:nvCxnSpPr>
        <p:spPr>
          <a:xfrm>
            <a:off x="6108700" y="2273300"/>
            <a:ext cx="0" cy="5334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87298486-D814-8B77-AA28-F37D8303B8B1}"/>
              </a:ext>
            </a:extLst>
          </p:cNvPr>
          <p:cNvCxnSpPr/>
          <p:nvPr/>
        </p:nvCxnSpPr>
        <p:spPr>
          <a:xfrm>
            <a:off x="2349500" y="2806700"/>
            <a:ext cx="74930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ตัวเชื่อมต่อตรง 10">
            <a:extLst>
              <a:ext uri="{FF2B5EF4-FFF2-40B4-BE49-F238E27FC236}">
                <a16:creationId xmlns:a16="http://schemas.microsoft.com/office/drawing/2014/main" id="{2F4AE853-F2FD-14E7-74AA-20B6ACCC1996}"/>
              </a:ext>
            </a:extLst>
          </p:cNvPr>
          <p:cNvCxnSpPr/>
          <p:nvPr/>
        </p:nvCxnSpPr>
        <p:spPr>
          <a:xfrm>
            <a:off x="2349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A5F5A921-699A-0315-E246-36CB21D5613B}"/>
              </a:ext>
            </a:extLst>
          </p:cNvPr>
          <p:cNvCxnSpPr/>
          <p:nvPr/>
        </p:nvCxnSpPr>
        <p:spPr>
          <a:xfrm>
            <a:off x="61087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ตรง 12">
            <a:extLst>
              <a:ext uri="{FF2B5EF4-FFF2-40B4-BE49-F238E27FC236}">
                <a16:creationId xmlns:a16="http://schemas.microsoft.com/office/drawing/2014/main" id="{603D90E8-5524-B8C9-F8E4-B3D564938BA8}"/>
              </a:ext>
            </a:extLst>
          </p:cNvPr>
          <p:cNvCxnSpPr/>
          <p:nvPr/>
        </p:nvCxnSpPr>
        <p:spPr>
          <a:xfrm>
            <a:off x="9842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A4E1B540-C0F5-1243-6793-3A170832E637}"/>
              </a:ext>
            </a:extLst>
          </p:cNvPr>
          <p:cNvSpPr/>
          <p:nvPr/>
        </p:nvSpPr>
        <p:spPr>
          <a:xfrm>
            <a:off x="736600" y="3111500"/>
            <a:ext cx="3238500" cy="14351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2E2103BB-A0DB-B837-4DA0-EA3A933C7A14}"/>
              </a:ext>
            </a:extLst>
          </p:cNvPr>
          <p:cNvSpPr txBox="1"/>
          <p:nvPr/>
        </p:nvSpPr>
        <p:spPr>
          <a:xfrm>
            <a:off x="990600" y="3340100"/>
            <a:ext cx="2692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Tahoma" panose="020B0604030504040204" pitchFamily="34" charset="0"/>
              </a:rPr>
              <a:t>e-Eye</a:t>
            </a:r>
            <a:endParaRPr lang="th-TH" sz="2500" b="1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A3964748-4E12-A8C2-8C39-6230117A2860}"/>
              </a:ext>
            </a:extLst>
          </p:cNvPr>
          <p:cNvSpPr txBox="1"/>
          <p:nvPr/>
        </p:nvSpPr>
        <p:spPr>
          <a:xfrm>
            <a:off x="965200" y="3911600"/>
            <a:ext cx="2743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700">
                <a:solidFill>
                  <a:srgbClr val="FFFFFF"/>
                </a:solidFill>
                <a:latin typeface="Tahoma" panose="020B0604030504040204" pitchFamily="34" charset="0"/>
              </a:rPr>
              <a:t>ภาพใบซื้อสินค้า / เอกสาร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3684E06A-19EB-1B4D-CB62-F06A633735C3}"/>
              </a:ext>
            </a:extLst>
          </p:cNvPr>
          <p:cNvSpPr/>
          <p:nvPr/>
        </p:nvSpPr>
        <p:spPr>
          <a:xfrm>
            <a:off x="45085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48E8A9E1-BD14-4761-281E-736335763BD5}"/>
              </a:ext>
            </a:extLst>
          </p:cNvPr>
          <p:cNvSpPr txBox="1"/>
          <p:nvPr/>
        </p:nvSpPr>
        <p:spPr>
          <a:xfrm>
            <a:off x="4787900" y="33401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e-Nose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F9A75CEC-8A1C-84CC-1C99-BDBFF386E64E}"/>
              </a:ext>
            </a:extLst>
          </p:cNvPr>
          <p:cNvSpPr txBox="1"/>
          <p:nvPr/>
        </p:nvSpPr>
        <p:spPr>
          <a:xfrm>
            <a:off x="4686300" y="39116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ก๊าซ /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VOC: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แผนต่อยอด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40658E42-1DBC-6572-82CE-5FCE2B624671}"/>
              </a:ext>
            </a:extLst>
          </p:cNvPr>
          <p:cNvSpPr/>
          <p:nvPr/>
        </p:nvSpPr>
        <p:spPr>
          <a:xfrm>
            <a:off x="82550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FE597D2E-4296-2ED0-4DEC-A441A4DF6F6F}"/>
              </a:ext>
            </a:extLst>
          </p:cNvPr>
          <p:cNvSpPr txBox="1"/>
          <p:nvPr/>
        </p:nvSpPr>
        <p:spPr>
          <a:xfrm>
            <a:off x="8509000" y="3340100"/>
            <a:ext cx="271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e-Skin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16A509F1-C453-8CB6-2832-2720A2BBDFA1}"/>
              </a:ext>
            </a:extLst>
          </p:cNvPr>
          <p:cNvSpPr txBox="1"/>
          <p:nvPr/>
        </p:nvSpPr>
        <p:spPr>
          <a:xfrm>
            <a:off x="8394700" y="3911600"/>
            <a:ext cx="297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น้ำหนัก / สัมผัส: แผนต่อยอด</a:t>
            </a:r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45AA9766-ABDD-6518-73ED-F99DDCC458BD}"/>
              </a:ext>
            </a:extLst>
          </p:cNvPr>
          <p:cNvSpPr txBox="1"/>
          <p:nvPr/>
        </p:nvSpPr>
        <p:spPr>
          <a:xfrm>
            <a:off x="787400" y="50546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>
                <a:solidFill>
                  <a:srgbClr val="202F3A"/>
                </a:solidFill>
                <a:latin typeface="Tahoma" panose="020B0604030504040204" pitchFamily="34" charset="0"/>
              </a:rPr>
              <a:t>ขอบเขตทดลอง: ภาพ → ตรวจบริเวณเอกสาร → </a:t>
            </a:r>
            <a:r>
              <a:rPr lang="en-US" sz="2000">
                <a:solidFill>
                  <a:srgbClr val="202F3A"/>
                </a:solidFill>
                <a:latin typeface="Tahoma" panose="020B0604030504040204" pitchFamily="34" charset="0"/>
              </a:rPr>
              <a:t>OCR → </a:t>
            </a:r>
            <a:r>
              <a:rPr lang="th-TH" sz="2000">
                <a:solidFill>
                  <a:srgbClr val="202F3A"/>
                </a:solidFill>
                <a:latin typeface="Tahoma" panose="020B0604030504040204" pitchFamily="34" charset="0"/>
              </a:rPr>
              <a:t>ข้อมูลสินค้า</a:t>
            </a:r>
          </a:p>
        </p:txBody>
      </p:sp>
    </p:spTree>
    <p:extLst>
      <p:ext uri="{BB962C8B-B14F-4D97-AF65-F5344CB8AC3E}">
        <p14:creationId xmlns:p14="http://schemas.microsoft.com/office/powerpoint/2010/main" val="117727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9BF4BCF8-A0A0-1468-58B7-20B31449783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46EB674-E795-F5AC-B6D3-7982994204BD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คำถามวิจัยและขอบเขตระยะนี้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9C36C8F-B9E1-3667-7DF7-05998C44E4F8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ต่อยอดกรอบ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Performance Trade-off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จาก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Assignment 4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ฉบับ 32 หน้า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E93DEFF-E919-B7AC-4528-EC8F91718F60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423A5567-CFE6-3782-AF99-63033FA61D06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4D9FF3D-C4DE-06B9-425A-5EAEEB112286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43F8DE8C-5B2A-0A6A-11D6-C82D986EEF5B}"/>
              </a:ext>
            </a:extLst>
          </p:cNvPr>
          <p:cNvSpPr txBox="1"/>
          <p:nvPr/>
        </p:nvSpPr>
        <p:spPr>
          <a:xfrm>
            <a:off x="673100" y="1866900"/>
            <a:ext cx="1060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11324D"/>
                </a:solidFill>
                <a:latin typeface="Tahoma" panose="020B0604030504040204" pitchFamily="34" charset="0"/>
              </a:rPr>
              <a:t>ระบบเฉพาะถิ่นจะอ่านใบซื้อสินค้าจริงได้แม่นยำเพียงใด เมื่อภาพและทรัพยากรเปลี่ยน?</a:t>
            </a: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BFC028D7-F7A6-A13E-9C64-A13BA9C238E4}"/>
              </a:ext>
            </a:extLst>
          </p:cNvPr>
          <p:cNvCxnSpPr/>
          <p:nvPr/>
        </p:nvCxnSpPr>
        <p:spPr>
          <a:xfrm>
            <a:off x="673100" y="3276600"/>
            <a:ext cx="108077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DC723E9-A7D4-C001-FF7C-32F391D56DB6}"/>
              </a:ext>
            </a:extLst>
          </p:cNvPr>
          <p:cNvSpPr txBox="1"/>
          <p:nvPr/>
        </p:nvSpPr>
        <p:spPr>
          <a:xfrm>
            <a:off x="698500" y="36195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ทดลองแล้ว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0A8F87F-E790-B30D-961C-E74DB84823B7}"/>
              </a:ext>
            </a:extLst>
          </p:cNvPr>
          <p:cNvSpPr txBox="1"/>
          <p:nvPr/>
        </p:nvSpPr>
        <p:spPr>
          <a:xfrm>
            <a:off x="698500" y="41148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คัดภาพจริง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EDA  •  YOLOv8n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CPU  •  OCR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นำร่อง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RKNN SDK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PC</a:t>
            </a:r>
            <a:endParaRPr lang="th-TH" sz="19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E489F7A-9DC5-A055-357F-754FE01A94BF}"/>
              </a:ext>
            </a:extLst>
          </p:cNvPr>
          <p:cNvSpPr txBox="1"/>
          <p:nvPr/>
        </p:nvSpPr>
        <p:spPr>
          <a:xfrm>
            <a:off x="698500" y="52070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CD682A"/>
                </a:solidFill>
                <a:latin typeface="Tahoma" panose="020B0604030504040204" pitchFamily="34" charset="0"/>
              </a:rPr>
              <a:t>ยังไม่ทดสอบ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E56FEF00-3A65-E072-E848-6975209ABC4A}"/>
              </a:ext>
            </a:extLst>
          </p:cNvPr>
          <p:cNvSpPr txBox="1"/>
          <p:nvPr/>
        </p:nvSpPr>
        <p:spPr>
          <a:xfrm>
            <a:off x="2921000" y="5207000"/>
            <a:ext cx="831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LLM/JSON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ที่มีเฉลยตรวจซ้ำ และความเร็ว/พลังงานของ </a:t>
            </a:r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RK3588 NPU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196057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8A34062-5D5D-AEB8-1E56-8543B2896CE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C4EF335-8392-3F98-DE7C-C62D605097CA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ภาพจริงที่ใช้: คัดครบก่อนทดลอง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D21C7EAF-1AB5-367B-6FE2-E675C66070BA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จำนวนภาพไม่เท่ากับจำนวนธุรกรรมอิสระ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FC8B56ED-E744-A953-A006-610D76BE1CE6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18D6B19B-A5E2-ECDD-4867-3EA089E3F0D4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3C7EAEA-E9AA-B2EE-911A-74256349021A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0734048D-2D09-C865-8074-4B8BABE6D53F}"/>
              </a:ext>
            </a:extLst>
          </p:cNvPr>
          <p:cNvSpPr txBox="1"/>
          <p:nvPr/>
        </p:nvSpPr>
        <p:spPr>
          <a:xfrm>
            <a:off x="711200" y="1727200"/>
            <a:ext cx="2514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124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A7B0DBBD-EEB8-C948-A1DA-2C6A449EF937}"/>
              </a:ext>
            </a:extLst>
          </p:cNvPr>
          <p:cNvSpPr txBox="1"/>
          <p:nvPr/>
        </p:nvSpPr>
        <p:spPr>
          <a:xfrm>
            <a:off x="736600" y="2654300"/>
            <a:ext cx="222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ไฟล์ที่รับ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AE324705-5D45-A90E-4028-B133BA014438}"/>
              </a:ext>
            </a:extLst>
          </p:cNvPr>
          <p:cNvSpPr txBox="1"/>
          <p:nvPr/>
        </p:nvSpPr>
        <p:spPr>
          <a:xfrm>
            <a:off x="4279900" y="1727200"/>
            <a:ext cx="250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113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FF5FB7A2-DC1D-FFE5-72CD-0422C5DD0E5D}"/>
              </a:ext>
            </a:extLst>
          </p:cNvPr>
          <p:cNvSpPr txBox="1"/>
          <p:nvPr/>
        </p:nvSpPr>
        <p:spPr>
          <a:xfrm>
            <a:off x="4305300" y="26543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 </a:t>
            </a:r>
            <a:r>
              <a:rPr lang="en-US" sz="1800">
                <a:solidFill>
                  <a:srgbClr val="586974"/>
                </a:solidFill>
                <a:latin typeface="Tahoma" panose="020B0604030504040204" pitchFamily="34" charset="0"/>
              </a:rPr>
              <a:t>SHA-256 </a:t>
            </a:r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ไม่ซ้ำ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E7092B4-5C72-215F-AFFD-C4898CD901F4}"/>
              </a:ext>
            </a:extLst>
          </p:cNvPr>
          <p:cNvSpPr txBox="1"/>
          <p:nvPr/>
        </p:nvSpPr>
        <p:spPr>
          <a:xfrm>
            <a:off x="8572500" y="17272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0E8186"/>
                </a:solidFill>
                <a:latin typeface="Tahoma" panose="020B0604030504040204" pitchFamily="34" charset="0"/>
              </a:rPr>
              <a:t>59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5E050C95-42CB-49B0-A8CF-0D5549A7B776}"/>
              </a:ext>
            </a:extLst>
          </p:cNvPr>
          <p:cNvSpPr txBox="1"/>
          <p:nvPr/>
        </p:nvSpPr>
        <p:spPr>
          <a:xfrm>
            <a:off x="8597900" y="2654300"/>
            <a:ext cx="289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ภาพผู้สมัครใบซื้อสินค้า</a:t>
            </a:r>
          </a:p>
        </p:txBody>
      </p:sp>
      <p:cxnSp>
        <p:nvCxnSpPr>
          <p:cNvPr id="14" name="ตัวเชื่อมต่อตรง 13">
            <a:extLst>
              <a:ext uri="{FF2B5EF4-FFF2-40B4-BE49-F238E27FC236}">
                <a16:creationId xmlns:a16="http://schemas.microsoft.com/office/drawing/2014/main" id="{F0B3D066-7940-AF0F-21B7-77476A5C2B1A}"/>
              </a:ext>
            </a:extLst>
          </p:cNvPr>
          <p:cNvCxnSpPr/>
          <p:nvPr/>
        </p:nvCxnSpPr>
        <p:spPr>
          <a:xfrm>
            <a:off x="698500" y="3429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0ACFD80B-985A-DA90-E19B-71A3FA4FF7FD}"/>
              </a:ext>
            </a:extLst>
          </p:cNvPr>
          <p:cNvSpPr txBox="1"/>
          <p:nvPr/>
        </p:nvSpPr>
        <p:spPr>
          <a:xfrm>
            <a:off x="723900" y="38100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 b="1">
                <a:solidFill>
                  <a:srgbClr val="202F3A"/>
                </a:solidFill>
                <a:latin typeface="Tahoma" panose="020B0604030504040204" pitchFamily="34" charset="0"/>
              </a:rPr>
              <a:t>ชุดหลัก 59 ภาพ: พิมพ์ 41 / เขียนมือ 18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93D00780-B584-B4C7-579C-0BE02A462689}"/>
              </a:ext>
            </a:extLst>
          </p:cNvPr>
          <p:cNvSpPr txBox="1"/>
          <p:nvPr/>
        </p:nvSpPr>
        <p:spPr>
          <a:xfrm>
            <a:off x="723900" y="4445000"/>
            <a:ext cx="10375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ชุดเสริม: ใบรับเงิน 28, ใบแจ้งหนี้ค่าหอ 14, เอกสารอื่นและกรณีพิเศษ 12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1F6624F8-72E2-CCBF-004D-553C3A443C7A}"/>
              </a:ext>
            </a:extLst>
          </p:cNvPr>
          <p:cNvSpPr txBox="1"/>
          <p:nvPr/>
        </p:nvSpPr>
        <p:spPr>
          <a:xfrm>
            <a:off x="723900" y="5473700"/>
            <a:ext cx="10566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คัดชนิดจากภาพโดยผู้ช่วย; ยังมี 1 ภาพรอตรวจละเอียด และผู้วิจัยต้องตรวจซ้ำ</a:t>
            </a:r>
          </a:p>
        </p:txBody>
      </p:sp>
    </p:spTree>
    <p:extLst>
      <p:ext uri="{BB962C8B-B14F-4D97-AF65-F5344CB8AC3E}">
        <p14:creationId xmlns:p14="http://schemas.microsoft.com/office/powerpoint/2010/main" val="60162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95586E3-9E99-8149-B785-F638733A7DE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A695291-CB01-8C2A-4721-2077A67A710E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EDA: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ชุดใบซื้อสินค้ามี 59 ภาพ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75BB1BE7-9137-03AD-9751-FD3AD735DA06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สถิติแสงวัดทั้งภาพ รวมฉากหลัง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62FDC892-49DF-7233-C6EE-2A27D5A88CB7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755B6C31-CAFE-09F2-C0AF-8D05D86CFEAC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0683CDA-E160-C21E-0C7D-917E280335B0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5</a:t>
            </a:r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91901FD9-D3BC-D8D7-8990-631824FCF9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689100"/>
            <a:ext cx="10922000" cy="3175000"/>
          </a:xfrm>
          <a:prstGeom prst="rect">
            <a:avLst/>
          </a:prstGeo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07FC2D95-0340-F920-8B54-A57EF6DC0827}"/>
              </a:ext>
            </a:extLst>
          </p:cNvPr>
          <p:cNvSpPr txBox="1"/>
          <p:nvPr/>
        </p:nvSpPr>
        <p:spPr>
          <a:xfrm>
            <a:off x="723900" y="5219700"/>
            <a:ext cx="1073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ภาพแนวตั้ง 38 / แนวนอน 21   •   ความสว่างมัธยฐาน 173.9/255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9594F984-6AB4-C096-A924-CC8F7F39C93B}"/>
              </a:ext>
            </a:extLst>
          </p:cNvPr>
          <p:cNvSpPr txBox="1"/>
          <p:nvPr/>
        </p:nvSpPr>
        <p:spPr>
          <a:xfrm>
            <a:off x="723900" y="56515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ยังไม่ได้วัดมุมเอียงและความหนาแน่นอักษรไทย/อังกฤษ</a:t>
            </a:r>
          </a:p>
        </p:txBody>
      </p:sp>
    </p:spTree>
    <p:extLst>
      <p:ext uri="{BB962C8B-B14F-4D97-AF65-F5344CB8AC3E}">
        <p14:creationId xmlns:p14="http://schemas.microsoft.com/office/powerpoint/2010/main" val="156992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F7DED94-E876-1CB1-0570-3FDA7A85597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350E49A8-B521-2774-933D-55753F678E10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วิธีทดลอง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YOLOv8n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10057BAF-87B9-6851-8D67-516AF2CA8037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เป้าหมายเป็นกรอบ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receipt_region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หนึ่งบริเวณต่อภาพ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BB17272-F4FB-A3F5-E50D-8AA841AC1EDF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204E146-D91E-5C1B-6541-D4A21846253B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7304473-82B3-2A53-AFDF-444272F85858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2A2E73C1-E0B2-8A3F-595B-35D0B10B6426}"/>
              </a:ext>
            </a:extLst>
          </p:cNvPr>
          <p:cNvSpPr txBox="1"/>
          <p:nvPr/>
        </p:nvSpPr>
        <p:spPr>
          <a:xfrm>
            <a:off x="736600" y="1803400"/>
            <a:ext cx="3797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48 ภาพฉากเดิม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53232417-564B-D5E4-7AC8-15531233E53B}"/>
              </a:ext>
            </a:extLst>
          </p:cNvPr>
          <p:cNvSpPr txBox="1"/>
          <p:nvPr/>
        </p:nvSpPr>
        <p:spPr>
          <a:xfrm>
            <a:off x="736600" y="2565400"/>
            <a:ext cx="438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0E8186"/>
                </a:solidFill>
                <a:latin typeface="Tahoma" panose="020B0604030504040204" pitchFamily="34" charset="0"/>
              </a:rPr>
              <a:t>38 ฝึก   /   10 ตรวจ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F658957-A9B0-CB12-7F21-6AC30E0F2590}"/>
              </a:ext>
            </a:extLst>
          </p:cNvPr>
          <p:cNvSpPr txBox="1"/>
          <p:nvPr/>
        </p:nvSpPr>
        <p:spPr>
          <a:xfrm>
            <a:off x="6680200" y="1803400"/>
            <a:ext cx="4152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ภาพใหม่ต่างฉาก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8EBA8A04-9B52-BDFA-5A2B-85DDFE09B330}"/>
              </a:ext>
            </a:extLst>
          </p:cNvPr>
          <p:cNvSpPr txBox="1"/>
          <p:nvPr/>
        </p:nvSpPr>
        <p:spPr>
          <a:xfrm>
            <a:off x="6680200" y="2565400"/>
            <a:ext cx="4305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CD682A"/>
                </a:solidFill>
                <a:latin typeface="Tahoma" panose="020B0604030504040204" pitchFamily="34" charset="0"/>
              </a:rPr>
              <a:t>6 กันไว้ทดสอบ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0567BB7C-0B49-7A4D-7BFA-E2E69C597028}"/>
              </a:ext>
            </a:extLst>
          </p:cNvPr>
          <p:cNvCxnSpPr/>
          <p:nvPr/>
        </p:nvCxnSpPr>
        <p:spPr>
          <a:xfrm>
            <a:off x="711200" y="3556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BB4527D2-060B-6156-D54F-30267F278E9A}"/>
              </a:ext>
            </a:extLst>
          </p:cNvPr>
          <p:cNvSpPr txBox="1"/>
          <p:nvPr/>
        </p:nvSpPr>
        <p:spPr>
          <a:xfrm>
            <a:off x="736600" y="39497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YOLOv8n pretrained → fine-tune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CPU →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ตรวจทั้งชุดเดิมและชุดใหม่โดยไม่ฝึกเพิ่ม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428FD955-8F1A-103A-0849-F4240996571F}"/>
              </a:ext>
            </a:extLst>
          </p:cNvPr>
          <p:cNvSpPr txBox="1"/>
          <p:nvPr/>
        </p:nvSpPr>
        <p:spPr>
          <a:xfrm>
            <a:off x="736600" y="51816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ภาพ 5 ใบจากผู้สมัครเดิมกันออกเพราะหลายเอกสารในภาพหรือสงสัยธุรกรรมใกล้ซ้ำ</a:t>
            </a:r>
          </a:p>
        </p:txBody>
      </p:sp>
    </p:spTree>
    <p:extLst>
      <p:ext uri="{BB962C8B-B14F-4D97-AF65-F5344CB8AC3E}">
        <p14:creationId xmlns:p14="http://schemas.microsoft.com/office/powerpoint/2010/main" val="67094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066B6B9B-5255-5B25-6841-987C782DAFD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9A1D7FCD-7EFB-BF35-7AF5-893B002FAF0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ผลตรวจจับ: เมื่อเปลี่ยนฉาก คะแนนลดลง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6A57C26-CB06-9236-E2E4-88D3E7559769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mAP@0.5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ของโมเดลเดิมที่ไม่ได้ฝึกด้วยภาพใหม่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5890B5B1-7FF2-061C-9E26-612FAC6E3DAF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5398674-1A68-7B32-AFC6-387AD78359DC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20B20034-DF32-B9E7-ED2A-F4A806165BE9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75230F85-D42D-44F1-AE6E-853277487390}"/>
              </a:ext>
            </a:extLst>
          </p:cNvPr>
          <p:cNvSpPr txBox="1"/>
          <p:nvPr/>
        </p:nvSpPr>
        <p:spPr>
          <a:xfrm>
            <a:off x="787400" y="18415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0E8186"/>
                </a:solidFill>
                <a:latin typeface="Tahoma" panose="020B0604030504040204" pitchFamily="34" charset="0"/>
              </a:rPr>
              <a:t>0.928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C04EF0BA-1EDF-2156-AA37-7C4EA9E54656}"/>
              </a:ext>
            </a:extLst>
          </p:cNvPr>
          <p:cNvSpPr txBox="1"/>
          <p:nvPr/>
        </p:nvSpPr>
        <p:spPr>
          <a:xfrm>
            <a:off x="812800" y="3048000"/>
            <a:ext cx="431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ฉากเดิม 10 ภาพ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4F5AC98-3FBA-30F6-DC8D-9ECCF70EBB5A}"/>
              </a:ext>
            </a:extLst>
          </p:cNvPr>
          <p:cNvSpPr txBox="1"/>
          <p:nvPr/>
        </p:nvSpPr>
        <p:spPr>
          <a:xfrm>
            <a:off x="7200900" y="1841500"/>
            <a:ext cx="4203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CD682A"/>
                </a:solidFill>
                <a:latin typeface="Tahoma" panose="020B0604030504040204" pitchFamily="34" charset="0"/>
              </a:rPr>
              <a:t>0.237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0A942BFF-A485-8F28-E3E9-90899EEA969E}"/>
              </a:ext>
            </a:extLst>
          </p:cNvPr>
          <p:cNvSpPr txBox="1"/>
          <p:nvPr/>
        </p:nvSpPr>
        <p:spPr>
          <a:xfrm>
            <a:off x="7226300" y="30480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ต่างฉาก 6 ภาพ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B3A515E5-C948-5B37-9AF0-A081D22D7F6D}"/>
              </a:ext>
            </a:extLst>
          </p:cNvPr>
          <p:cNvSpPr/>
          <p:nvPr/>
        </p:nvSpPr>
        <p:spPr>
          <a:xfrm>
            <a:off x="838200" y="38862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5E5D91D0-ABB7-3ED0-5189-EC37CE99033B}"/>
              </a:ext>
            </a:extLst>
          </p:cNvPr>
          <p:cNvSpPr/>
          <p:nvPr/>
        </p:nvSpPr>
        <p:spPr>
          <a:xfrm>
            <a:off x="838200" y="3886200"/>
            <a:ext cx="9074912" cy="254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A1E3A93E-C2A8-E7BB-0E41-D27E8A4F46E1}"/>
              </a:ext>
            </a:extLst>
          </p:cNvPr>
          <p:cNvSpPr/>
          <p:nvPr/>
        </p:nvSpPr>
        <p:spPr>
          <a:xfrm>
            <a:off x="838200" y="44831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FDA0BA99-E1BF-ACC3-701F-C193079844C0}"/>
              </a:ext>
            </a:extLst>
          </p:cNvPr>
          <p:cNvSpPr/>
          <p:nvPr/>
        </p:nvSpPr>
        <p:spPr>
          <a:xfrm>
            <a:off x="838200" y="4483100"/>
            <a:ext cx="2317623" cy="254000"/>
          </a:xfrm>
          <a:prstGeom prst="rect">
            <a:avLst/>
          </a:prstGeom>
          <a:solidFill>
            <a:srgbClr val="CD68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250F90BF-E2ED-8F13-A6AB-0337BB5F8A30}"/>
              </a:ext>
            </a:extLst>
          </p:cNvPr>
          <p:cNvSpPr txBox="1"/>
          <p:nvPr/>
        </p:nvSpPr>
        <p:spPr>
          <a:xfrm>
            <a:off x="838200" y="52070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ผลเบื้องต้น: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n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เล็ก,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label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ตรวจจากภาพโดยผู้ช่วย, ภาพฉากเดิมคล้ายกัน</a:t>
            </a:r>
          </a:p>
        </p:txBody>
      </p:sp>
    </p:spTree>
    <p:extLst>
      <p:ext uri="{BB962C8B-B14F-4D97-AF65-F5344CB8AC3E}">
        <p14:creationId xmlns:p14="http://schemas.microsoft.com/office/powerpoint/2010/main" val="255023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126645C9-B910-4BE2-F1F5-8FF39D76008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CFB6D56-C75B-58BE-E141-DAF5BAC2DE1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กรณีพลาด: กรอบคะแนนสูงสุดจับพื้นหลัง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425C899-0B5A-DF81-A8D5-34D8EC9BC546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ชุดต่างฉากแสดงปัญหา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generalization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ของตัวตรวจจับ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81D2095D-6889-9754-1735-20AFEA0F4972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EA04BA82-4B14-8EBE-80DC-D0DC9C43184F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9879122-D118-C098-B46E-386BB1A5A991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4987CCCA-C3F5-4077-3A15-28D23E617294}"/>
              </a:ext>
            </a:extLst>
          </p:cNvPr>
          <p:cNvSpPr/>
          <p:nvPr/>
        </p:nvSpPr>
        <p:spPr>
          <a:xfrm>
            <a:off x="876300" y="1917700"/>
            <a:ext cx="4635500" cy="3162300"/>
          </a:xfrm>
          <a:prstGeom prst="rect">
            <a:avLst/>
          </a:prstGeom>
          <a:solidFill>
            <a:srgbClr val="E0E4E6"/>
          </a:solidFill>
          <a:ln w="12700">
            <a:solidFill>
              <a:srgbClr val="D4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6B24EB41-3E10-8366-C7F7-1BBA8DC25A53}"/>
              </a:ext>
            </a:extLst>
          </p:cNvPr>
          <p:cNvSpPr/>
          <p:nvPr/>
        </p:nvSpPr>
        <p:spPr>
          <a:xfrm>
            <a:off x="2120900" y="2628900"/>
            <a:ext cx="2146300" cy="1765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81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4451F5A5-E6F0-5D18-911E-31EC1D1D7E05}"/>
              </a:ext>
            </a:extLst>
          </p:cNvPr>
          <p:cNvSpPr txBox="1"/>
          <p:nvPr/>
        </p:nvSpPr>
        <p:spPr>
          <a:xfrm>
            <a:off x="2413000" y="3314700"/>
            <a:ext cx="158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ใบซื้อสินค้า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3AA3763-D5C6-2491-40BD-7BF7633B93FB}"/>
              </a:ext>
            </a:extLst>
          </p:cNvPr>
          <p:cNvSpPr/>
          <p:nvPr/>
        </p:nvSpPr>
        <p:spPr>
          <a:xfrm>
            <a:off x="1016000" y="2044700"/>
            <a:ext cx="4368800" cy="2908300"/>
          </a:xfrm>
          <a:prstGeom prst="rect">
            <a:avLst/>
          </a:prstGeom>
          <a:solidFill>
            <a:srgbClr val="E0E4E6">
              <a:alpha val="0"/>
            </a:srgbClr>
          </a:solidFill>
          <a:ln w="38100">
            <a:solidFill>
              <a:srgbClr val="CD6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B6D12DF2-742B-02B8-68E6-A201128BA69F}"/>
              </a:ext>
            </a:extLst>
          </p:cNvPr>
          <p:cNvSpPr txBox="1"/>
          <p:nvPr/>
        </p:nvSpPr>
        <p:spPr>
          <a:xfrm>
            <a:off x="5892800" y="21463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0E8186"/>
                </a:solidFill>
                <a:latin typeface="Tahoma" panose="020B0604030504040204" pitchFamily="34" charset="0"/>
              </a:rPr>
              <a:t>กรอบที่ต้องการ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283FB321-9663-A4D1-5476-DF89EE7C2787}"/>
              </a:ext>
            </a:extLst>
          </p:cNvPr>
          <p:cNvSpPr txBox="1"/>
          <p:nvPr/>
        </p:nvSpPr>
        <p:spPr>
          <a:xfrm>
            <a:off x="5892800" y="2641600"/>
            <a:ext cx="504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เฉพาะบริเวณกระดาษ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6F7D1E6B-BDA7-289E-7D3A-45D2B9EC0E0F}"/>
              </a:ext>
            </a:extLst>
          </p:cNvPr>
          <p:cNvSpPr txBox="1"/>
          <p:nvPr/>
        </p:nvSpPr>
        <p:spPr>
          <a:xfrm>
            <a:off x="5892800" y="35052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CD682A"/>
                </a:solidFill>
                <a:latin typeface="Tahoma" panose="020B0604030504040204" pitchFamily="34" charset="0"/>
              </a:rPr>
              <a:t>กรอบที่โมเดลเลือกผิด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7A928A4F-20C9-24B0-1D49-1C33122BBFE1}"/>
              </a:ext>
            </a:extLst>
          </p:cNvPr>
          <p:cNvSpPr txBox="1"/>
          <p:nvPr/>
        </p:nvSpPr>
        <p:spPr>
          <a:xfrm>
            <a:off x="5892800" y="4000500"/>
            <a:ext cx="520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ครอบทั้งภาพหรือเพียงบางส่วน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092F81AF-E8C6-B2F6-332E-0FCC6E8F40F3}"/>
              </a:ext>
            </a:extLst>
          </p:cNvPr>
          <p:cNvSpPr txBox="1"/>
          <p:nvPr/>
        </p:nvSpPr>
        <p:spPr>
          <a:xfrm>
            <a:off x="901700" y="53975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ภาพต่างฉาก 6 ภาพ: กรอบ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confidence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สูงสุด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IoU≥0.5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เพียง 1 ภาพ</a:t>
            </a:r>
          </a:p>
        </p:txBody>
      </p:sp>
    </p:spTree>
    <p:extLst>
      <p:ext uri="{BB962C8B-B14F-4D97-AF65-F5344CB8AC3E}">
        <p14:creationId xmlns:p14="http://schemas.microsoft.com/office/powerpoint/2010/main" val="201364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2811E0F2-3026-1C99-DF1A-A76B6A1D639E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8B239B42-B8A5-2764-599A-D96E098822CB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OCR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และ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RKNN: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สถานะจริงของ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pipeline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88C5432-C713-5FA7-296E-45442BC0DB9A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แยก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 baseline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ออกจาก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PC-side SDK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และบอร์ดจริง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1E44FAE7-B3D1-0228-A984-FE1CB80D60A2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B56EFB99-8B15-3310-6EBC-EC28EEFB0086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0DF011E-FCA3-E687-9E32-BB894E1F1E44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931185F2-3F30-39AE-AE4F-C1D712B1FD30}"/>
              </a:ext>
            </a:extLst>
          </p:cNvPr>
          <p:cNvSpPr txBox="1"/>
          <p:nvPr/>
        </p:nvSpPr>
        <p:spPr>
          <a:xfrm>
            <a:off x="723900" y="18415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EasyOCR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ไทย/อังกฤษ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3CDE73C-0954-234E-8D14-EF756EE65FB1}"/>
              </a:ext>
            </a:extLst>
          </p:cNvPr>
          <p:cNvSpPr txBox="1"/>
          <p:nvPr/>
        </p:nvSpPr>
        <p:spPr>
          <a:xfrm>
            <a:off x="723900" y="25019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3 ภาพพิมพ์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8016639-E92B-B6ED-12A5-B6A89CCD1D96}"/>
              </a:ext>
            </a:extLst>
          </p:cNvPr>
          <p:cNvSpPr txBox="1"/>
          <p:nvPr/>
        </p:nvSpPr>
        <p:spPr>
          <a:xfrm>
            <a:off x="723900" y="30353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202F3A"/>
                </a:solidFill>
                <a:latin typeface="Tahoma" panose="020B0604030504040204" pitchFamily="34" charset="0"/>
              </a:rPr>
              <a:t>spot-check </a:t>
            </a:r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วันที่/ยอดตรง 4 จาก 6 ช่อง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3F49702-4518-88A8-3CE5-29C71C79AAED}"/>
              </a:ext>
            </a:extLst>
          </p:cNvPr>
          <p:cNvSpPr txBox="1"/>
          <p:nvPr/>
        </p:nvSpPr>
        <p:spPr>
          <a:xfrm>
            <a:off x="723900" y="4127500"/>
            <a:ext cx="5003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ยังไม่ใช่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CER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หรือการสกัด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field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อัตโนมัติ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15CA0AC3-7626-29E4-55E4-E1789C2E55E6}"/>
              </a:ext>
            </a:extLst>
          </p:cNvPr>
          <p:cNvCxnSpPr/>
          <p:nvPr/>
        </p:nvCxnSpPr>
        <p:spPr>
          <a:xfrm>
            <a:off x="6134100" y="1765300"/>
            <a:ext cx="0" cy="33655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6D7CF8F4-BF09-1959-4F2E-BE40DDB23993}"/>
              </a:ext>
            </a:extLst>
          </p:cNvPr>
          <p:cNvSpPr txBox="1"/>
          <p:nvPr/>
        </p:nvSpPr>
        <p:spPr>
          <a:xfrm>
            <a:off x="6680200" y="18415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RKNN Toolkit2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sz="23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2CE196FC-5C60-D890-E01F-23CD6301F1B1}"/>
              </a:ext>
            </a:extLst>
          </p:cNvPr>
          <p:cNvSpPr txBox="1"/>
          <p:nvPr/>
        </p:nvSpPr>
        <p:spPr>
          <a:xfrm>
            <a:off x="6680200" y="25019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328661"/>
                </a:solidFill>
                <a:latin typeface="Tahoma" panose="020B0604030504040204" pitchFamily="34" charset="0"/>
              </a:rPr>
              <a:t>ONNX → RKNN → PC inference: </a:t>
            </a:r>
            <a:r>
              <a:rPr lang="th-TH" sz="1900" b="1">
                <a:solidFill>
                  <a:srgbClr val="328661"/>
                </a:solidFill>
                <a:latin typeface="Tahoma" panose="020B0604030504040204" pitchFamily="34" charset="0"/>
              </a:rPr>
              <a:t>สำเร็จ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D97000AA-A03E-EB1D-D1F0-A53134856A41}"/>
              </a:ext>
            </a:extLst>
          </p:cNvPr>
          <p:cNvSpPr txBox="1"/>
          <p:nvPr/>
        </p:nvSpPr>
        <p:spPr>
          <a:xfrm>
            <a:off x="6680200" y="3657600"/>
            <a:ext cx="482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202F3A"/>
                </a:solidFill>
                <a:latin typeface="Tahoma" panose="020B0604030504040204" pitchFamily="34" charset="0"/>
              </a:rPr>
              <a:t>เป้าหมาย </a:t>
            </a:r>
            <a:r>
              <a:rPr lang="en-US" sz="1600">
                <a:solidFill>
                  <a:srgbClr val="202F3A"/>
                </a:solidFill>
                <a:latin typeface="Tahoma" panose="020B0604030504040204" pitchFamily="34" charset="0"/>
              </a:rPr>
              <a:t>RK3588, float build, output (1,5,2100)</a:t>
            </a:r>
            <a:endParaRPr lang="th-TH" sz="16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8DD4AF7B-3C59-634F-D3EC-3716342C0633}"/>
              </a:ext>
            </a:extLst>
          </p:cNvPr>
          <p:cNvSpPr txBox="1"/>
          <p:nvPr/>
        </p:nvSpPr>
        <p:spPr>
          <a:xfrm>
            <a:off x="6680200" y="4673600"/>
            <a:ext cx="477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ยังไม่มี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latency /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พลังงานจาก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NPU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336655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F8AED22D-01F1-E7F8-73B5-5EC3EDFB016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BF4B75E-4911-7F3E-828D-404404438C06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งานถัดไปสำหรับ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Ass6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และวิทยานิพนธ์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2000215-56FC-FE88-F812-A3E2A1483A8C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ผล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pilot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นี้บอกทั้งสิ่งที่ทำได้และสิ่งที่ต้องแก้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06FB241-51E2-9C18-84F0-3B037EB8B912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BB48E67-BF8D-EB14-9A8D-002ED23343AC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A9358C39-347F-53F5-451D-171ED0440A4A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04AFF4F9-C56C-C45F-7C55-C30521133719}"/>
              </a:ext>
            </a:extLst>
          </p:cNvPr>
          <p:cNvSpPr txBox="1"/>
          <p:nvPr/>
        </p:nvSpPr>
        <p:spPr>
          <a:xfrm>
            <a:off x="736600" y="18542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4F4C3A8A-0E06-56D3-6BC9-3D26C9D1DB59}"/>
              </a:ext>
            </a:extLst>
          </p:cNvPr>
          <p:cNvSpPr txBox="1"/>
          <p:nvPr/>
        </p:nvSpPr>
        <p:spPr>
          <a:xfrm>
            <a:off x="1422400" y="18796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ตรวจ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label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และทำเฉลย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OCR/JSON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โดยคนสองรอบ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422B7C3-3564-2A37-0B7E-C5AFE6987024}"/>
              </a:ext>
            </a:extLst>
          </p:cNvPr>
          <p:cNvSpPr txBox="1"/>
          <p:nvPr/>
        </p:nvSpPr>
        <p:spPr>
          <a:xfrm>
            <a:off x="736600" y="28956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8C6A729C-9AEB-CB4B-E13D-C12201C1DB31}"/>
              </a:ext>
            </a:extLst>
          </p:cNvPr>
          <p:cNvSpPr txBox="1"/>
          <p:nvPr/>
        </p:nvSpPr>
        <p:spPr>
          <a:xfrm>
            <a:off x="1422400" y="29210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เพิ่มภาพหลายพื้น แสง และมุม แล้วกันชุดทดสอบใหม่ไว้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FD754462-8126-5E5A-66ED-BCC4B9BD94E2}"/>
              </a:ext>
            </a:extLst>
          </p:cNvPr>
          <p:cNvSpPr txBox="1"/>
          <p:nvPr/>
        </p:nvSpPr>
        <p:spPr>
          <a:xfrm>
            <a:off x="736600" y="42037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70A433B5-8E87-12F4-44C5-FA829C1EC287}"/>
              </a:ext>
            </a:extLst>
          </p:cNvPr>
          <p:cNvSpPr txBox="1"/>
          <p:nvPr/>
        </p:nvSpPr>
        <p:spPr>
          <a:xfrm>
            <a:off x="1422400" y="42291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ทดสอบ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JSON/LLM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และวัด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NPU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จริงเมื่อบอร์ดพร้อม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22C89E97-E164-537B-7AAD-C42BD2869482}"/>
              </a:ext>
            </a:extLst>
          </p:cNvPr>
          <p:cNvSpPr txBox="1"/>
          <p:nvPr/>
        </p:nvSpPr>
        <p:spPr>
          <a:xfrm>
            <a:off x="736600" y="5435600"/>
            <a:ext cx="1033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Ass6: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ใช้กรอบวิจัย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Ass4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และผล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PC pilot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นี้กำหนดวิธีทดลอง พร้อมระบุข้อจำกัด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291750591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กำหนดเอง</PresentationFormat>
  <Paragraphs>100</Paragraphs>
  <Slides>10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ณัชพล เพ็งพล</dc:creator>
  <cp:lastModifiedBy>ณัชพล เพ็งพล</cp:lastModifiedBy>
  <cp:revision>1</cp:revision>
  <dcterms:created xsi:type="dcterms:W3CDTF">2026-10-17T08:14:00Z</dcterms:created>
  <dcterms:modified xsi:type="dcterms:W3CDTF">2026-10-17T08:14:00Z</dcterms:modified>
</cp:coreProperties>
</file>