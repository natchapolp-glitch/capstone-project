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0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1532DE3-AD66-2D02-1BF6-075606BB2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40662EBA-AD69-A3A8-835B-D0A4999F0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7207EAE-C2AB-5CE5-1241-81E8D32C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9A602D3-8778-F74A-437F-FDE87B8A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A539579-8A50-D65A-6459-214C6D10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0258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5B7596E-D85B-CF69-3D05-8216A4FD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62A54A2D-196D-4E72-9160-20ABFCC45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B788411-349F-B132-4E3D-AE1225BCD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1F43A8E-AF77-01F7-4C04-96A90CBC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542AB54-2D62-8843-8555-B50F945A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145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F78FB10-5086-CA50-566E-EEE8117DE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0CFD9AF-24FE-A67F-1AAD-83B3E6679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E75DABC-83DD-BEED-974E-68879F6E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B4C14C2-CF5E-70AC-8927-902FD597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8819BFA1-58E7-EE08-71F8-30820F1B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1711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9A136F1-F454-60B6-6904-1EA5A81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259B734-EBB7-A661-99F0-E33F9670F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F1903574-4BC6-2331-2CD5-A3F46401B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D56497A3-46FF-9679-D9CC-C6B61DF3B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3C5009F8-6886-3D15-5F42-A46005F2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6D1B0945-36D4-3E88-42A9-F4F8A37D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390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C961E3B-0ED5-6A87-1B7B-577A49FF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FA67EE22-70A7-E5E0-F97B-BC37D8FD0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0A7EAF07-0377-2BAD-5F2E-282B3B256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6C9065A4-483E-DF93-C406-F424DED57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05D89C4F-39C8-2A37-3CBD-9C35EB197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E49CAFCC-7C85-FDCE-E181-05122220C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12B33F64-E9DA-6810-73D3-60842F40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0607F5A2-EBE1-8DA0-3E91-CB9ACF0E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312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7640725-80FD-C5B1-F73D-CBFAD5E8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CDE2E4FF-2336-C01A-02BD-89C51BEB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468F75A8-3F99-D7FE-ED37-208C4BD4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406E66BE-C0DD-0CB5-616A-6B7EA390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356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56A129A0-4A3B-8CFA-734D-83843EF9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56F80918-592D-7181-994B-8BFB4F05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BB187FE-FE18-0E32-C073-6EBF2E56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6891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4F9EE41-9D07-BBDC-AA95-789233671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A0A6A2D-22BF-46BC-3030-058245E94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6CB854D-3A5E-4F48-C59A-C70271B24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B98090D-AE71-0DE1-28C5-8EEACCAC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25F98E1C-94D9-B25F-B9B9-4C11DE24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00EDF527-270C-7F2A-180C-C5689BF09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6850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407E1EA-812A-B2F7-46A8-BA0E61DA5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DE91B127-1847-50FC-BF48-C734C1E6E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3FAB7B12-A3B8-1AF6-782E-8E8A3F542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01BBA523-2E42-0FC9-CD16-4A9635C8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48D8DF04-5046-4829-8778-DDBF621A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1E09C441-F2E1-73FF-C2B8-847573D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4220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FBA92DD-F8B8-19DB-88DD-B218CCE7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C54197AD-3917-A82D-3582-85FAE9854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C57538D-9BA0-9923-6B68-7FE1FC59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C95FCE11-427D-04AD-1220-955419605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F59EB8F-6177-4578-190A-346C9B5E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33938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A45394F6-A938-DC99-94A2-8CB090BFB0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5226DA2E-ACD5-7157-12D1-F580662FD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0CB811F-BE0C-2BD0-0DFE-41F4577B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9276BAB-8E69-6E49-2046-C8DB3112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35F5C28-74B8-492A-CBC9-92D2F854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592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AD1E0C49-48F0-DC32-BBDF-E97CE79B6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5EF801F7-D2CB-1700-6CD1-D7BB5B728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3F7A381-5DBD-A93A-EEF7-BD4DD7D358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9FB55-DBF3-475C-838C-28800E08D19C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D5AD310-9B74-6290-5450-34504C84A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8BA7E7D-FBF5-AE03-9791-A85B20104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CDF64-4787-4EEE-AB9A-7DC2AA6BB4E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469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810F0AB-9EF7-E85F-4C63-C24180AEDAB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3527433-D2B0-27C0-74DA-B2C205D0CFD3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การนำเสนอความก้าวหน้าโครงงาน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DFD36C55-BA48-6CEC-89F3-8FA38D3FCD79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โครงงานคอมพิวเตอร์  สาขาวิชาวิทยาการคอมพิวเตอร์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0B538C9F-4F08-1983-F4BE-3569BCF3092A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6164634F-8321-E1CE-FE94-0E85401CD53E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1434E230-0B4E-1CA2-AA24-47BCE47BA66D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D1B123ED-B028-6CB3-A804-568EBFD130C7}"/>
              </a:ext>
            </a:extLst>
          </p:cNvPr>
          <p:cNvSpPr txBox="1"/>
          <p:nvPr/>
        </p:nvSpPr>
        <p:spPr>
          <a:xfrm>
            <a:off x="647700" y="1778000"/>
            <a:ext cx="10769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400" b="1">
                <a:solidFill>
                  <a:srgbClr val="202F3A"/>
                </a:solidFill>
                <a:latin typeface="Tahoma" panose="020B0604030504040204" pitchFamily="34" charset="0"/>
              </a:rPr>
              <a:t>การพัฒนาระบบประสาทส่วนกลางอัจฉริยะในที่พักอาศัย
เพื่อสกัดและวิเคราะห์ข้อมูลห่วงโซ่อุปทานในครัวเรือน
ด้วยปัญญาประดิษฐ์ประมวลผลเฉพาะถิ่น</a:t>
            </a: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D87F0062-5FB5-3369-A31A-0FFE7F6F1C68}"/>
              </a:ext>
            </a:extLst>
          </p:cNvPr>
          <p:cNvSpPr/>
          <p:nvPr/>
        </p:nvSpPr>
        <p:spPr>
          <a:xfrm>
            <a:off x="660400" y="3632200"/>
            <a:ext cx="1562100" cy="635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009F3F40-7CF2-3521-366C-36C33D8DEA02}"/>
              </a:ext>
            </a:extLst>
          </p:cNvPr>
          <p:cNvSpPr txBox="1"/>
          <p:nvPr/>
        </p:nvSpPr>
        <p:spPr>
          <a:xfrm>
            <a:off x="673100" y="4076700"/>
            <a:ext cx="977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ณัชพล เพ็งพล  |  ธนบดี เริ่มรักสกุล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37AD3012-AA4E-5A8F-5E23-91BDE6983143}"/>
              </a:ext>
            </a:extLst>
          </p:cNvPr>
          <p:cNvSpPr txBox="1"/>
          <p:nvPr/>
        </p:nvSpPr>
        <p:spPr>
          <a:xfrm>
            <a:off x="673100" y="4584700"/>
            <a:ext cx="977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อาจารย์ที่ปรึกษา ผศ.บุญทรัพย์ ไวคำ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C2F4BB4A-1E77-F784-F142-264B0312A24B}"/>
              </a:ext>
            </a:extLst>
          </p:cNvPr>
          <p:cNvSpPr txBox="1"/>
          <p:nvPr/>
        </p:nvSpPr>
        <p:spPr>
          <a:xfrm>
            <a:off x="673100" y="51054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สาขาวิชาวิทยาการคอมพิวเตอร์ มหาวิทยาลัยขอนแก่น</a:t>
            </a:r>
          </a:p>
        </p:txBody>
      </p:sp>
    </p:spTree>
    <p:extLst>
      <p:ext uri="{BB962C8B-B14F-4D97-AF65-F5344CB8AC3E}">
        <p14:creationId xmlns:p14="http://schemas.microsoft.com/office/powerpoint/2010/main" val="407384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242DF823-9383-742A-CC49-09A1DAA39ED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9B85AA68-4713-F283-E7A4-88B3F71A2531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ภาพรวม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e-Senses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ของบ้าน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77D617BD-2E6F-6695-37C6-F1C9029BDAD8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ระยะทดลองปัจจุบันศึกษา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e-Eye</a:t>
            </a:r>
            <a:endParaRPr lang="th-TH" sz="1500">
              <a:solidFill>
                <a:srgbClr val="586974"/>
              </a:solidFill>
              <a:latin typeface="Tahoma" panose="020B0604030504040204" pitchFamily="34" charset="0"/>
            </a:endParaRP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A37A7A43-AACB-3E26-8D09-C9BBAE70B288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02529438-E50D-BC9F-4775-B4EC6651FC0E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C2B0F67B-ED09-9A20-81F9-710870CB10B5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67759B51-ECE0-B9B5-3B20-A478E97B2399}"/>
              </a:ext>
            </a:extLst>
          </p:cNvPr>
          <p:cNvSpPr txBox="1"/>
          <p:nvPr/>
        </p:nvSpPr>
        <p:spPr>
          <a:xfrm>
            <a:off x="4140200" y="1752600"/>
            <a:ext cx="425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 b="1">
                <a:solidFill>
                  <a:srgbClr val="11324D"/>
                </a:solidFill>
                <a:latin typeface="Tahoma" panose="020B0604030504040204" pitchFamily="34" charset="0"/>
              </a:rPr>
              <a:t>Home Digital Nervous System</a:t>
            </a:r>
            <a:endParaRPr lang="th-TH" sz="2200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cxnSp>
        <p:nvCxnSpPr>
          <p:cNvPr id="9" name="ตัวเชื่อมต่อตรง 8">
            <a:extLst>
              <a:ext uri="{FF2B5EF4-FFF2-40B4-BE49-F238E27FC236}">
                <a16:creationId xmlns:a16="http://schemas.microsoft.com/office/drawing/2014/main" id="{8A969F52-6089-F0EC-AE2A-697C238174AF}"/>
              </a:ext>
            </a:extLst>
          </p:cNvPr>
          <p:cNvCxnSpPr/>
          <p:nvPr/>
        </p:nvCxnSpPr>
        <p:spPr>
          <a:xfrm>
            <a:off x="6108700" y="2273300"/>
            <a:ext cx="0" cy="5334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A2BD0607-4985-B4D7-8869-D3FC6EBB4B62}"/>
              </a:ext>
            </a:extLst>
          </p:cNvPr>
          <p:cNvCxnSpPr/>
          <p:nvPr/>
        </p:nvCxnSpPr>
        <p:spPr>
          <a:xfrm>
            <a:off x="2349500" y="2806700"/>
            <a:ext cx="74930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ตัวเชื่อมต่อตรง 10">
            <a:extLst>
              <a:ext uri="{FF2B5EF4-FFF2-40B4-BE49-F238E27FC236}">
                <a16:creationId xmlns:a16="http://schemas.microsoft.com/office/drawing/2014/main" id="{B5EA17A9-1598-65D8-5977-6C9E21AB8176}"/>
              </a:ext>
            </a:extLst>
          </p:cNvPr>
          <p:cNvCxnSpPr/>
          <p:nvPr/>
        </p:nvCxnSpPr>
        <p:spPr>
          <a:xfrm>
            <a:off x="23495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14832667-B982-B614-4F21-B87117EAAC52}"/>
              </a:ext>
            </a:extLst>
          </p:cNvPr>
          <p:cNvCxnSpPr/>
          <p:nvPr/>
        </p:nvCxnSpPr>
        <p:spPr>
          <a:xfrm>
            <a:off x="61087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ตัวเชื่อมต่อตรง 12">
            <a:extLst>
              <a:ext uri="{FF2B5EF4-FFF2-40B4-BE49-F238E27FC236}">
                <a16:creationId xmlns:a16="http://schemas.microsoft.com/office/drawing/2014/main" id="{28FCE4CA-35B2-879A-476A-54D9C2B32C64}"/>
              </a:ext>
            </a:extLst>
          </p:cNvPr>
          <p:cNvCxnSpPr/>
          <p:nvPr/>
        </p:nvCxnSpPr>
        <p:spPr>
          <a:xfrm>
            <a:off x="98425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63280EDB-CF0D-C091-2164-D1BE780DE6CE}"/>
              </a:ext>
            </a:extLst>
          </p:cNvPr>
          <p:cNvSpPr/>
          <p:nvPr/>
        </p:nvSpPr>
        <p:spPr>
          <a:xfrm>
            <a:off x="736600" y="3111500"/>
            <a:ext cx="3238500" cy="14351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D8D67B64-E5C3-A40F-FAE0-DCAC9FC3F60D}"/>
              </a:ext>
            </a:extLst>
          </p:cNvPr>
          <p:cNvSpPr txBox="1"/>
          <p:nvPr/>
        </p:nvSpPr>
        <p:spPr>
          <a:xfrm>
            <a:off x="990600" y="3340100"/>
            <a:ext cx="2692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FFFFFF"/>
                </a:solidFill>
                <a:latin typeface="Tahoma" panose="020B0604030504040204" pitchFamily="34" charset="0"/>
              </a:rPr>
              <a:t>e-Eye</a:t>
            </a:r>
            <a:endParaRPr lang="th-TH" sz="2500" b="1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1AFD8A00-2382-8600-841D-3B29BAF70251}"/>
              </a:ext>
            </a:extLst>
          </p:cNvPr>
          <p:cNvSpPr txBox="1"/>
          <p:nvPr/>
        </p:nvSpPr>
        <p:spPr>
          <a:xfrm>
            <a:off x="965200" y="3911600"/>
            <a:ext cx="2743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700">
                <a:solidFill>
                  <a:srgbClr val="FFFFFF"/>
                </a:solidFill>
                <a:latin typeface="Tahoma" panose="020B0604030504040204" pitchFamily="34" charset="0"/>
              </a:rPr>
              <a:t>ภาพใบซื้อสินค้า / เอกสาร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D9F87AF0-F91F-D9A8-3AE7-B499BFF5895A}"/>
              </a:ext>
            </a:extLst>
          </p:cNvPr>
          <p:cNvSpPr/>
          <p:nvPr/>
        </p:nvSpPr>
        <p:spPr>
          <a:xfrm>
            <a:off x="4508500" y="3111500"/>
            <a:ext cx="3238500" cy="1435100"/>
          </a:xfrm>
          <a:prstGeom prst="rect">
            <a:avLst/>
          </a:prstGeom>
          <a:solidFill>
            <a:srgbClr val="E7EE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34589B56-A14B-8BD2-1123-A43A4E4B5A74}"/>
              </a:ext>
            </a:extLst>
          </p:cNvPr>
          <p:cNvSpPr txBox="1"/>
          <p:nvPr/>
        </p:nvSpPr>
        <p:spPr>
          <a:xfrm>
            <a:off x="4787900" y="3340100"/>
            <a:ext cx="264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202F3A"/>
                </a:solidFill>
                <a:latin typeface="Tahoma" panose="020B0604030504040204" pitchFamily="34" charset="0"/>
              </a:rPr>
              <a:t>e-Nose</a:t>
            </a:r>
            <a:endParaRPr lang="th-TH" sz="2500" b="1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ABE0F4BF-E126-C01B-4BC2-41578BF55545}"/>
              </a:ext>
            </a:extLst>
          </p:cNvPr>
          <p:cNvSpPr txBox="1"/>
          <p:nvPr/>
        </p:nvSpPr>
        <p:spPr>
          <a:xfrm>
            <a:off x="4686300" y="3911600"/>
            <a:ext cx="285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ก๊าซ /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VOC: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แผนต่อยอด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B327D134-4D88-47EF-20AD-B83B4C69A235}"/>
              </a:ext>
            </a:extLst>
          </p:cNvPr>
          <p:cNvSpPr/>
          <p:nvPr/>
        </p:nvSpPr>
        <p:spPr>
          <a:xfrm>
            <a:off x="8255000" y="3111500"/>
            <a:ext cx="3238500" cy="1435100"/>
          </a:xfrm>
          <a:prstGeom prst="rect">
            <a:avLst/>
          </a:prstGeom>
          <a:solidFill>
            <a:srgbClr val="E7EE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439C6225-349C-CFFE-FA02-57257A3FAB80}"/>
              </a:ext>
            </a:extLst>
          </p:cNvPr>
          <p:cNvSpPr txBox="1"/>
          <p:nvPr/>
        </p:nvSpPr>
        <p:spPr>
          <a:xfrm>
            <a:off x="8509000" y="3340100"/>
            <a:ext cx="2717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202F3A"/>
                </a:solidFill>
                <a:latin typeface="Tahoma" panose="020B0604030504040204" pitchFamily="34" charset="0"/>
              </a:rPr>
              <a:t>e-Skin</a:t>
            </a:r>
            <a:endParaRPr lang="th-TH" sz="2500" b="1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BA065016-4D1A-3B78-BF7D-00E695CA2FAA}"/>
              </a:ext>
            </a:extLst>
          </p:cNvPr>
          <p:cNvSpPr txBox="1"/>
          <p:nvPr/>
        </p:nvSpPr>
        <p:spPr>
          <a:xfrm>
            <a:off x="8394700" y="3911600"/>
            <a:ext cx="297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น้ำหนัก / สัมผัส: แผนต่อยอด</a:t>
            </a:r>
          </a:p>
        </p:txBody>
      </p: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52137481-AFAB-AD43-4BDF-28DD3A7F02E2}"/>
              </a:ext>
            </a:extLst>
          </p:cNvPr>
          <p:cNvSpPr txBox="1"/>
          <p:nvPr/>
        </p:nvSpPr>
        <p:spPr>
          <a:xfrm>
            <a:off x="787400" y="505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ขอบเขต: ภาพ → ตรวจบริเวณเอกสาร →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OCR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นำร่อง →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JSON (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แผนถัดไป)</a:t>
            </a:r>
          </a:p>
        </p:txBody>
      </p:sp>
    </p:spTree>
    <p:extLst>
      <p:ext uri="{BB962C8B-B14F-4D97-AF65-F5344CB8AC3E}">
        <p14:creationId xmlns:p14="http://schemas.microsoft.com/office/powerpoint/2010/main" val="1847510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E25D2E11-E35D-5025-966F-C2232463339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2676C8A4-416A-6D8F-F04E-F2030A19E59C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คำถามวิจัยและขอบเขตระยะนี้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FFFAA512-3058-C0D6-C566-A8480956E582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ประเมินความแม่นยำควบคู่กับทรัพยากรที่ใช้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A68518E5-2773-43C5-A852-F693B17D79AF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611CE9AD-CA36-C203-43F2-AF065C8E7D4C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4A70FB42-0D38-B250-3B9A-EA05BD36C80F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046D975B-9923-278B-002D-799132280185}"/>
              </a:ext>
            </a:extLst>
          </p:cNvPr>
          <p:cNvSpPr txBox="1"/>
          <p:nvPr/>
        </p:nvSpPr>
        <p:spPr>
          <a:xfrm>
            <a:off x="673100" y="1866900"/>
            <a:ext cx="1060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600" b="1">
                <a:solidFill>
                  <a:srgbClr val="11324D"/>
                </a:solidFill>
                <a:latin typeface="Tahoma" panose="020B0604030504040204" pitchFamily="34" charset="0"/>
              </a:rPr>
              <a:t>ระบบเฉพาะถิ่นจะอ่านใบซื้อสินค้าจริงได้แม่นยำเพียงใด เมื่อภาพและทรัพยากรเปลี่ยน?</a:t>
            </a:r>
          </a:p>
        </p:txBody>
      </p:sp>
      <p:cxnSp>
        <p:nvCxnSpPr>
          <p:cNvPr id="9" name="ตัวเชื่อมต่อตรง 8">
            <a:extLst>
              <a:ext uri="{FF2B5EF4-FFF2-40B4-BE49-F238E27FC236}">
                <a16:creationId xmlns:a16="http://schemas.microsoft.com/office/drawing/2014/main" id="{C4EDB62A-31CA-FAAC-EDF9-57FE515E4B37}"/>
              </a:ext>
            </a:extLst>
          </p:cNvPr>
          <p:cNvCxnSpPr/>
          <p:nvPr/>
        </p:nvCxnSpPr>
        <p:spPr>
          <a:xfrm>
            <a:off x="673100" y="3276600"/>
            <a:ext cx="108077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5513612E-7E87-E1D7-7393-2EE29A52FC6B}"/>
              </a:ext>
            </a:extLst>
          </p:cNvPr>
          <p:cNvSpPr txBox="1"/>
          <p:nvPr/>
        </p:nvSpPr>
        <p:spPr>
          <a:xfrm>
            <a:off x="698500" y="3619500"/>
            <a:ext cx="215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000" b="1">
                <a:solidFill>
                  <a:srgbClr val="0E8186"/>
                </a:solidFill>
                <a:latin typeface="Tahoma" panose="020B0604030504040204" pitchFamily="34" charset="0"/>
              </a:rPr>
              <a:t>ทดลองแล้ว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04D5FDD6-A667-CB57-5310-0B21AD72EACD}"/>
              </a:ext>
            </a:extLst>
          </p:cNvPr>
          <p:cNvSpPr txBox="1"/>
          <p:nvPr/>
        </p:nvSpPr>
        <p:spPr>
          <a:xfrm>
            <a:off x="698500" y="4114800"/>
            <a:ext cx="1022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คัดภาพจริง  • 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EDA  •  YOLOv8n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CPU  •  OCR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นำร่อง  • 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RKNN SDK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PC</a:t>
            </a:r>
            <a:endParaRPr lang="th-TH" sz="1900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EB7C97B7-78B8-E324-5296-00BE05F82194}"/>
              </a:ext>
            </a:extLst>
          </p:cNvPr>
          <p:cNvSpPr txBox="1"/>
          <p:nvPr/>
        </p:nvSpPr>
        <p:spPr>
          <a:xfrm>
            <a:off x="698500" y="5207000"/>
            <a:ext cx="215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 b="1">
                <a:solidFill>
                  <a:srgbClr val="CD682A"/>
                </a:solidFill>
                <a:latin typeface="Tahoma" panose="020B0604030504040204" pitchFamily="34" charset="0"/>
              </a:rPr>
              <a:t>ยังไม่ทดสอบ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16EFEBC1-CE1E-E89E-BE82-4629C2C98B4E}"/>
              </a:ext>
            </a:extLst>
          </p:cNvPr>
          <p:cNvSpPr txBox="1"/>
          <p:nvPr/>
        </p:nvSpPr>
        <p:spPr>
          <a:xfrm>
            <a:off x="2921000" y="5207000"/>
            <a:ext cx="831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86974"/>
                </a:solidFill>
                <a:latin typeface="Tahoma" panose="020B0604030504040204" pitchFamily="34" charset="0"/>
              </a:rPr>
              <a:t>LLM/JSON </a:t>
            </a:r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ที่มีเฉลยตรวจซ้ำ และความเร็ว/พลังงานของ </a:t>
            </a:r>
            <a:r>
              <a:rPr lang="en-US" sz="1700">
                <a:solidFill>
                  <a:srgbClr val="586974"/>
                </a:solidFill>
                <a:latin typeface="Tahoma" panose="020B0604030504040204" pitchFamily="34" charset="0"/>
              </a:rPr>
              <a:t>RK3588 NPU </a:t>
            </a:r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จริง</a:t>
            </a:r>
          </a:p>
        </p:txBody>
      </p:sp>
    </p:spTree>
    <p:extLst>
      <p:ext uri="{BB962C8B-B14F-4D97-AF65-F5344CB8AC3E}">
        <p14:creationId xmlns:p14="http://schemas.microsoft.com/office/powerpoint/2010/main" val="350975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187436DA-F224-3A2E-A33B-52C7C343A63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79E07620-6335-B786-5615-9B76820AD129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ภาพจริงที่ใช้: คัดครบก่อนทดลอง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44D25F49-9E6F-371C-0994-C305CD95AAC4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จำนวนภาพไม่เท่ากับจำนวนธุรกรรมอิสระ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F056EAF6-5532-4300-20E5-9FBB5A22E3D4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0CED2644-9BD7-04E8-9EC6-F03E994D495B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4CEB3848-C69F-172F-11A7-1CC11864A53C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83606302-026B-7B8F-D35E-CA8E499A6FDA}"/>
              </a:ext>
            </a:extLst>
          </p:cNvPr>
          <p:cNvSpPr txBox="1"/>
          <p:nvPr/>
        </p:nvSpPr>
        <p:spPr>
          <a:xfrm>
            <a:off x="711200" y="1727200"/>
            <a:ext cx="2514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11324D"/>
                </a:solidFill>
                <a:latin typeface="Tahoma" panose="020B0604030504040204" pitchFamily="34" charset="0"/>
              </a:rPr>
              <a:t>124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5D6CAD0C-78CB-B901-9CEC-D6A3478E9C16}"/>
              </a:ext>
            </a:extLst>
          </p:cNvPr>
          <p:cNvSpPr txBox="1"/>
          <p:nvPr/>
        </p:nvSpPr>
        <p:spPr>
          <a:xfrm>
            <a:off x="736600" y="2654300"/>
            <a:ext cx="222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ไฟล์ที่รับ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454A6015-935B-845D-B043-71381F01D1F7}"/>
              </a:ext>
            </a:extLst>
          </p:cNvPr>
          <p:cNvSpPr txBox="1"/>
          <p:nvPr/>
        </p:nvSpPr>
        <p:spPr>
          <a:xfrm>
            <a:off x="4279900" y="1727200"/>
            <a:ext cx="2501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11324D"/>
                </a:solidFill>
                <a:latin typeface="Tahoma" panose="020B0604030504040204" pitchFamily="34" charset="0"/>
              </a:rPr>
              <a:t>113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6F95694D-9766-A3F3-3E02-05F200C90003}"/>
              </a:ext>
            </a:extLst>
          </p:cNvPr>
          <p:cNvSpPr txBox="1"/>
          <p:nvPr/>
        </p:nvSpPr>
        <p:spPr>
          <a:xfrm>
            <a:off x="4305300" y="26543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ภาพ </a:t>
            </a:r>
            <a:r>
              <a:rPr lang="en-US" sz="1800">
                <a:solidFill>
                  <a:srgbClr val="586974"/>
                </a:solidFill>
                <a:latin typeface="Tahoma" panose="020B0604030504040204" pitchFamily="34" charset="0"/>
              </a:rPr>
              <a:t>SHA-256 </a:t>
            </a:r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ไม่ซ้ำ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D9390787-F4CD-51AD-8A7C-15006C87E3FA}"/>
              </a:ext>
            </a:extLst>
          </p:cNvPr>
          <p:cNvSpPr txBox="1"/>
          <p:nvPr/>
        </p:nvSpPr>
        <p:spPr>
          <a:xfrm>
            <a:off x="8572500" y="17272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0E8186"/>
                </a:solidFill>
                <a:latin typeface="Tahoma" panose="020B0604030504040204" pitchFamily="34" charset="0"/>
              </a:rPr>
              <a:t>59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48B14944-9336-B0E7-CF35-A8B116A3C9E4}"/>
              </a:ext>
            </a:extLst>
          </p:cNvPr>
          <p:cNvSpPr txBox="1"/>
          <p:nvPr/>
        </p:nvSpPr>
        <p:spPr>
          <a:xfrm>
            <a:off x="8597900" y="2654300"/>
            <a:ext cx="289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ภาพผู้สมัครใบซื้อสินค้า</a:t>
            </a:r>
          </a:p>
        </p:txBody>
      </p:sp>
      <p:cxnSp>
        <p:nvCxnSpPr>
          <p:cNvPr id="14" name="ตัวเชื่อมต่อตรง 13">
            <a:extLst>
              <a:ext uri="{FF2B5EF4-FFF2-40B4-BE49-F238E27FC236}">
                <a16:creationId xmlns:a16="http://schemas.microsoft.com/office/drawing/2014/main" id="{57CB3D3B-7CE1-C631-F172-4CC15937DCD6}"/>
              </a:ext>
            </a:extLst>
          </p:cNvPr>
          <p:cNvCxnSpPr/>
          <p:nvPr/>
        </p:nvCxnSpPr>
        <p:spPr>
          <a:xfrm>
            <a:off x="698500" y="3429000"/>
            <a:ext cx="107315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47EEF0BE-AA3B-7B33-AD57-F18A1CB17A74}"/>
              </a:ext>
            </a:extLst>
          </p:cNvPr>
          <p:cNvSpPr txBox="1"/>
          <p:nvPr/>
        </p:nvSpPr>
        <p:spPr>
          <a:xfrm>
            <a:off x="723900" y="3810000"/>
            <a:ext cx="1022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 b="1">
                <a:solidFill>
                  <a:srgbClr val="202F3A"/>
                </a:solidFill>
                <a:latin typeface="Tahoma" panose="020B0604030504040204" pitchFamily="34" charset="0"/>
              </a:rPr>
              <a:t>ชุดหลัก 59 ภาพ: พิมพ์ 41 / เขียนมือ 18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E8F03A01-5137-7D07-F854-8C4619C709DE}"/>
              </a:ext>
            </a:extLst>
          </p:cNvPr>
          <p:cNvSpPr txBox="1"/>
          <p:nvPr/>
        </p:nvSpPr>
        <p:spPr>
          <a:xfrm>
            <a:off x="723900" y="4445000"/>
            <a:ext cx="10375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ชุดเสริม: ใบรับเงิน 28, ใบแจ้งหนี้ค่าหอ 14, เอกสารอื่นและกรณีพิเศษ 12</a:t>
            </a: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DBB75204-F49D-CEF9-8BED-B99FCDBD0CD1}"/>
              </a:ext>
            </a:extLst>
          </p:cNvPr>
          <p:cNvSpPr txBox="1"/>
          <p:nvPr/>
        </p:nvSpPr>
        <p:spPr>
          <a:xfrm>
            <a:off x="723900" y="5473700"/>
            <a:ext cx="10566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คัดชนิดจากภาพโดยผู้ช่วย; ยังมี 1 ภาพรอตรวจละเอียด และผู้วิจัยต้องตรวจซ้ำ</a:t>
            </a:r>
          </a:p>
        </p:txBody>
      </p:sp>
    </p:spTree>
    <p:extLst>
      <p:ext uri="{BB962C8B-B14F-4D97-AF65-F5344CB8AC3E}">
        <p14:creationId xmlns:p14="http://schemas.microsoft.com/office/powerpoint/2010/main" val="605803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76168BEE-D82A-C2E6-41AE-9CFF3A9E142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28D63AC-F31F-64CE-EFA8-2B6CA15AFDB6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EDA: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ชุดใบซื้อสินค้ามี 59 ภาพ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8C06A32D-753F-8EBD-2DA5-B47963502FFB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สถิติแสงวัดทั้งภาพ รวมฉากหลัง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A65E3DF4-B84C-ADFC-198D-E4DFF8C40F2C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A8A9CABA-BCD3-43B7-0B61-A39C84BD3E2A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0D11BEC2-D8E7-8715-B01A-E38AC97D4AEE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5</a:t>
            </a:r>
          </a:p>
        </p:txBody>
      </p:sp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FBF9020F-D3CC-080F-C911-065C136D5B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689100"/>
            <a:ext cx="10922000" cy="3175000"/>
          </a:xfrm>
          <a:prstGeom prst="rect">
            <a:avLst/>
          </a:prstGeom>
        </p:spPr>
      </p:pic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0B78C1C5-9971-63FF-0B2E-B2F574B9B7F3}"/>
              </a:ext>
            </a:extLst>
          </p:cNvPr>
          <p:cNvSpPr txBox="1"/>
          <p:nvPr/>
        </p:nvSpPr>
        <p:spPr>
          <a:xfrm>
            <a:off x="723900" y="5219700"/>
            <a:ext cx="10731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 b="1">
                <a:solidFill>
                  <a:srgbClr val="202F3A"/>
                </a:solidFill>
                <a:latin typeface="Tahoma" panose="020B0604030504040204" pitchFamily="34" charset="0"/>
              </a:rPr>
              <a:t>ภาพแนวตั้ง 38 / แนวนอน 21   •   ความสว่างมัธยฐาน 173.9/255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A2C17D41-46F8-1780-55B8-599ECCC3C7E7}"/>
              </a:ext>
            </a:extLst>
          </p:cNvPr>
          <p:cNvSpPr txBox="1"/>
          <p:nvPr/>
        </p:nvSpPr>
        <p:spPr>
          <a:xfrm>
            <a:off x="723900" y="56515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ยังไม่ได้วัดมุมเอียงและความหนาแน่นอักษรไทย/อังกฤษ</a:t>
            </a:r>
          </a:p>
        </p:txBody>
      </p:sp>
    </p:spTree>
    <p:extLst>
      <p:ext uri="{BB962C8B-B14F-4D97-AF65-F5344CB8AC3E}">
        <p14:creationId xmlns:p14="http://schemas.microsoft.com/office/powerpoint/2010/main" val="367593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0DE250A2-7F16-CCB4-9846-0B39127ABBCE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FC1550B8-F40C-193A-EAE5-102C7A3151EA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วิธีทดลอง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YOLOv8n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บน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PC</a:t>
            </a:r>
            <a:endParaRPr lang="th-TH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8E608C7-25F4-CFA8-A0A7-4711C18DED80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เป้าหมายเป็นกรอบ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receipt_region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หนึ่งบริเวณต่อภาพ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32C2D5BE-C77B-E6F3-2F0B-B7B878895744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376F6E30-5167-9D86-B0F5-B9C0F26289C4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E90D5FF2-26E5-70C8-9A41-7BE620A067F8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C8E143C2-4B0F-4BFB-55C5-303F453FE780}"/>
              </a:ext>
            </a:extLst>
          </p:cNvPr>
          <p:cNvSpPr txBox="1"/>
          <p:nvPr/>
        </p:nvSpPr>
        <p:spPr>
          <a:xfrm>
            <a:off x="736600" y="1803400"/>
            <a:ext cx="3797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500" b="1">
                <a:solidFill>
                  <a:srgbClr val="11324D"/>
                </a:solidFill>
                <a:latin typeface="Tahoma" panose="020B0604030504040204" pitchFamily="34" charset="0"/>
              </a:rPr>
              <a:t>48 ภาพฉากเดิม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AAFA65C1-CA8B-6FB9-AC13-96BF758547C9}"/>
              </a:ext>
            </a:extLst>
          </p:cNvPr>
          <p:cNvSpPr txBox="1"/>
          <p:nvPr/>
        </p:nvSpPr>
        <p:spPr>
          <a:xfrm>
            <a:off x="736600" y="2565400"/>
            <a:ext cx="4381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400" b="1">
                <a:solidFill>
                  <a:srgbClr val="0E8186"/>
                </a:solidFill>
                <a:latin typeface="Tahoma" panose="020B0604030504040204" pitchFamily="34" charset="0"/>
              </a:rPr>
              <a:t>38 ฝึก   /   10 ตรวจ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E063765D-23A4-ADFE-8974-43AE892A048A}"/>
              </a:ext>
            </a:extLst>
          </p:cNvPr>
          <p:cNvSpPr txBox="1"/>
          <p:nvPr/>
        </p:nvSpPr>
        <p:spPr>
          <a:xfrm>
            <a:off x="6680200" y="1803400"/>
            <a:ext cx="4152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500" b="1">
                <a:solidFill>
                  <a:srgbClr val="11324D"/>
                </a:solidFill>
                <a:latin typeface="Tahoma" panose="020B0604030504040204" pitchFamily="34" charset="0"/>
              </a:rPr>
              <a:t>ภาพใหม่ต่างฉาก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98FAA1F9-911F-D76F-6AE8-983AD88D23EF}"/>
              </a:ext>
            </a:extLst>
          </p:cNvPr>
          <p:cNvSpPr txBox="1"/>
          <p:nvPr/>
        </p:nvSpPr>
        <p:spPr>
          <a:xfrm>
            <a:off x="6680200" y="2565400"/>
            <a:ext cx="4305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400" b="1">
                <a:solidFill>
                  <a:srgbClr val="CD682A"/>
                </a:solidFill>
                <a:latin typeface="Tahoma" panose="020B0604030504040204" pitchFamily="34" charset="0"/>
              </a:rPr>
              <a:t>6 กันไว้ทดสอบ</a:t>
            </a:r>
          </a:p>
        </p:txBody>
      </p: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FB4A5831-DE9F-EDF0-E304-1ADEB61C3E10}"/>
              </a:ext>
            </a:extLst>
          </p:cNvPr>
          <p:cNvCxnSpPr/>
          <p:nvPr/>
        </p:nvCxnSpPr>
        <p:spPr>
          <a:xfrm>
            <a:off x="711200" y="3556000"/>
            <a:ext cx="107315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28A31E78-2A1D-E34E-BF88-ACA1786004D7}"/>
              </a:ext>
            </a:extLst>
          </p:cNvPr>
          <p:cNvSpPr txBox="1"/>
          <p:nvPr/>
        </p:nvSpPr>
        <p:spPr>
          <a:xfrm>
            <a:off x="736600" y="39497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202F3A"/>
                </a:solidFill>
                <a:latin typeface="Tahoma" panose="020B0604030504040204" pitchFamily="34" charset="0"/>
              </a:rPr>
              <a:t>YOLOv8n pretrained → fine-tune </a:t>
            </a:r>
            <a:r>
              <a:rPr lang="th-TH" sz="22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2200">
                <a:solidFill>
                  <a:srgbClr val="202F3A"/>
                </a:solidFill>
                <a:latin typeface="Tahoma" panose="020B0604030504040204" pitchFamily="34" charset="0"/>
              </a:rPr>
              <a:t>CPU → </a:t>
            </a:r>
            <a:r>
              <a:rPr lang="th-TH" sz="2200">
                <a:solidFill>
                  <a:srgbClr val="202F3A"/>
                </a:solidFill>
                <a:latin typeface="Tahoma" panose="020B0604030504040204" pitchFamily="34" charset="0"/>
              </a:rPr>
              <a:t>ตรวจทั้งชุดเดิมและชุดใหม่โดยไม่ฝึกเพิ่ม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CD1F3038-B6FF-1215-533F-8227F57DCB22}"/>
              </a:ext>
            </a:extLst>
          </p:cNvPr>
          <p:cNvSpPr txBox="1"/>
          <p:nvPr/>
        </p:nvSpPr>
        <p:spPr>
          <a:xfrm>
            <a:off x="736600" y="5181600"/>
            <a:ext cx="10528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ภาพ 5 ใบจากผู้สมัครเดิมกันออกเพราะหลายเอกสารในภาพหรือสงสัยธุรกรรมใกล้ซ้ำ</a:t>
            </a:r>
          </a:p>
        </p:txBody>
      </p:sp>
    </p:spTree>
    <p:extLst>
      <p:ext uri="{BB962C8B-B14F-4D97-AF65-F5344CB8AC3E}">
        <p14:creationId xmlns:p14="http://schemas.microsoft.com/office/powerpoint/2010/main" val="327248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EA501F68-FF31-4CEF-936F-8FBD34376C8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E68D30A-CC24-5D6F-A2F2-6A811BBADEFC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ผลตรวจจับ: เมื่อเปลี่ยนฉาก คะแนนลดลง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C76863D3-EE83-6B95-7B9D-187BBDFAE643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mAP@0.5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ของโมเดลเดิมที่ไม่ได้ฝึกด้วยภาพใหม่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B3DC8EDD-2CB0-C753-99A9-B159EF2158D0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D0B75A39-C98F-6A65-91FC-E1F787CB8F93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E960A05A-120C-6E3D-FD3D-42030A5DD018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5B0C1590-719B-804C-C3E6-53DB82828F7E}"/>
              </a:ext>
            </a:extLst>
          </p:cNvPr>
          <p:cNvSpPr txBox="1"/>
          <p:nvPr/>
        </p:nvSpPr>
        <p:spPr>
          <a:xfrm>
            <a:off x="787400" y="1841500"/>
            <a:ext cx="4229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500" b="1">
                <a:solidFill>
                  <a:srgbClr val="0E8186"/>
                </a:solidFill>
                <a:latin typeface="Tahoma" panose="020B0604030504040204" pitchFamily="34" charset="0"/>
              </a:rPr>
              <a:t>0.928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6BB79B51-3BD8-7094-77D4-0589D6420E63}"/>
              </a:ext>
            </a:extLst>
          </p:cNvPr>
          <p:cNvSpPr txBox="1"/>
          <p:nvPr/>
        </p:nvSpPr>
        <p:spPr>
          <a:xfrm>
            <a:off x="812800" y="3048000"/>
            <a:ext cx="431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ฉากเดิม 10 ภาพ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9EA92DF-BF2A-F7D7-6E6C-365676BC8386}"/>
              </a:ext>
            </a:extLst>
          </p:cNvPr>
          <p:cNvSpPr txBox="1"/>
          <p:nvPr/>
        </p:nvSpPr>
        <p:spPr>
          <a:xfrm>
            <a:off x="7200900" y="1841500"/>
            <a:ext cx="4203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500" b="1">
                <a:solidFill>
                  <a:srgbClr val="CD682A"/>
                </a:solidFill>
                <a:latin typeface="Tahoma" panose="020B0604030504040204" pitchFamily="34" charset="0"/>
              </a:rPr>
              <a:t>0.237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1FD71781-C66B-9F2F-6A13-B6D0D4991B55}"/>
              </a:ext>
            </a:extLst>
          </p:cNvPr>
          <p:cNvSpPr txBox="1"/>
          <p:nvPr/>
        </p:nvSpPr>
        <p:spPr>
          <a:xfrm>
            <a:off x="7226300" y="3048000"/>
            <a:ext cx="4229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ต่างฉาก 6 ภาพ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77FABAB5-F464-9B46-9D44-64B819130BBC}"/>
              </a:ext>
            </a:extLst>
          </p:cNvPr>
          <p:cNvSpPr/>
          <p:nvPr/>
        </p:nvSpPr>
        <p:spPr>
          <a:xfrm>
            <a:off x="838200" y="3886200"/>
            <a:ext cx="9779000" cy="254000"/>
          </a:xfrm>
          <a:prstGeom prst="rect">
            <a:avLst/>
          </a:prstGeom>
          <a:solidFill>
            <a:srgbClr val="E5EB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06C98416-B05B-111C-8E99-04F04F576650}"/>
              </a:ext>
            </a:extLst>
          </p:cNvPr>
          <p:cNvSpPr/>
          <p:nvPr/>
        </p:nvSpPr>
        <p:spPr>
          <a:xfrm>
            <a:off x="838200" y="3886200"/>
            <a:ext cx="9074912" cy="254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B6C4AB71-12C3-CE54-A046-4FD60AD0B769}"/>
              </a:ext>
            </a:extLst>
          </p:cNvPr>
          <p:cNvSpPr/>
          <p:nvPr/>
        </p:nvSpPr>
        <p:spPr>
          <a:xfrm>
            <a:off x="838200" y="4483100"/>
            <a:ext cx="9779000" cy="254000"/>
          </a:xfrm>
          <a:prstGeom prst="rect">
            <a:avLst/>
          </a:prstGeom>
          <a:solidFill>
            <a:srgbClr val="E5EB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AC174F51-A85D-692A-1C22-CD7DFC002C5C}"/>
              </a:ext>
            </a:extLst>
          </p:cNvPr>
          <p:cNvSpPr/>
          <p:nvPr/>
        </p:nvSpPr>
        <p:spPr>
          <a:xfrm>
            <a:off x="838200" y="4483100"/>
            <a:ext cx="2317623" cy="254000"/>
          </a:xfrm>
          <a:prstGeom prst="rect">
            <a:avLst/>
          </a:prstGeom>
          <a:solidFill>
            <a:srgbClr val="CD68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6A39324D-7B12-B817-DC21-69F6052CCCA4}"/>
              </a:ext>
            </a:extLst>
          </p:cNvPr>
          <p:cNvSpPr txBox="1"/>
          <p:nvPr/>
        </p:nvSpPr>
        <p:spPr>
          <a:xfrm>
            <a:off x="838200" y="52070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ผลเบื้องต้น: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n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เล็ก,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label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ตรวจจากภาพโดยผู้ช่วย, ภาพฉากเดิมคล้ายกัน</a:t>
            </a:r>
          </a:p>
        </p:txBody>
      </p:sp>
    </p:spTree>
    <p:extLst>
      <p:ext uri="{BB962C8B-B14F-4D97-AF65-F5344CB8AC3E}">
        <p14:creationId xmlns:p14="http://schemas.microsoft.com/office/powerpoint/2010/main" val="427256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80437D8B-DA8F-636C-26BE-EA12B97A6AD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F8B89AE1-EC90-EDCD-B28E-6F6CE6BAEA78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กรณีพลาด: กรอบคะแนนสูงสุดจับพื้นหลัง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0BB9D4F1-0997-1587-338A-9E35FDE4D730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ชุดต่างฉากแสดงปัญหา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generalization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ของตัวตรวจจับ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AAF67CB8-1A68-CA88-7BAB-8AF1DDD8E794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1D9EC644-A3A6-9C6D-F82D-B2A3A8178F68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4434DCAC-8674-6C01-528E-1DA3F8CDF21C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7DD19BB5-0CAE-F640-F2D7-1A21DC451A2F}"/>
              </a:ext>
            </a:extLst>
          </p:cNvPr>
          <p:cNvSpPr/>
          <p:nvPr/>
        </p:nvSpPr>
        <p:spPr>
          <a:xfrm>
            <a:off x="876300" y="1917700"/>
            <a:ext cx="4635500" cy="3162300"/>
          </a:xfrm>
          <a:prstGeom prst="rect">
            <a:avLst/>
          </a:prstGeom>
          <a:solidFill>
            <a:srgbClr val="E0E4E6"/>
          </a:solidFill>
          <a:ln w="12700">
            <a:solidFill>
              <a:srgbClr val="D4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BB630BD8-CA10-8434-82AB-0AC697EF2D71}"/>
              </a:ext>
            </a:extLst>
          </p:cNvPr>
          <p:cNvSpPr/>
          <p:nvPr/>
        </p:nvSpPr>
        <p:spPr>
          <a:xfrm>
            <a:off x="2120900" y="2628900"/>
            <a:ext cx="2146300" cy="1765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81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64DAF1C-92D2-62A4-A5C6-77D98CACA397}"/>
              </a:ext>
            </a:extLst>
          </p:cNvPr>
          <p:cNvSpPr txBox="1"/>
          <p:nvPr/>
        </p:nvSpPr>
        <p:spPr>
          <a:xfrm>
            <a:off x="2413000" y="3314700"/>
            <a:ext cx="158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800" b="1">
                <a:solidFill>
                  <a:srgbClr val="202F3A"/>
                </a:solidFill>
                <a:latin typeface="Tahoma" panose="020B0604030504040204" pitchFamily="34" charset="0"/>
              </a:rPr>
              <a:t>ใบซื้อสินค้า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4CE734CF-9C64-20CF-0302-7D84E2F1B3CA}"/>
              </a:ext>
            </a:extLst>
          </p:cNvPr>
          <p:cNvSpPr/>
          <p:nvPr/>
        </p:nvSpPr>
        <p:spPr>
          <a:xfrm>
            <a:off x="1016000" y="2044700"/>
            <a:ext cx="4368800" cy="2908300"/>
          </a:xfrm>
          <a:prstGeom prst="rect">
            <a:avLst/>
          </a:prstGeom>
          <a:solidFill>
            <a:srgbClr val="E0E4E6">
              <a:alpha val="0"/>
            </a:srgbClr>
          </a:solidFill>
          <a:ln w="38100">
            <a:solidFill>
              <a:srgbClr val="CD68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7847CCF1-7F13-4284-BC49-756AB65463C0}"/>
              </a:ext>
            </a:extLst>
          </p:cNvPr>
          <p:cNvSpPr txBox="1"/>
          <p:nvPr/>
        </p:nvSpPr>
        <p:spPr>
          <a:xfrm>
            <a:off x="5892800" y="21463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200" b="1">
                <a:solidFill>
                  <a:srgbClr val="0E8186"/>
                </a:solidFill>
                <a:latin typeface="Tahoma" panose="020B0604030504040204" pitchFamily="34" charset="0"/>
              </a:rPr>
              <a:t>กรอบที่ต้องการ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76A6F77D-D96B-7AE9-7EA0-A555E8569CBF}"/>
              </a:ext>
            </a:extLst>
          </p:cNvPr>
          <p:cNvSpPr txBox="1"/>
          <p:nvPr/>
        </p:nvSpPr>
        <p:spPr>
          <a:xfrm>
            <a:off x="5892800" y="2641600"/>
            <a:ext cx="5041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เฉพาะบริเวณกระดาษ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BAFBDF05-53EC-B336-6D96-B31DF0EBE374}"/>
              </a:ext>
            </a:extLst>
          </p:cNvPr>
          <p:cNvSpPr txBox="1"/>
          <p:nvPr/>
        </p:nvSpPr>
        <p:spPr>
          <a:xfrm>
            <a:off x="5892800" y="35052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200" b="1">
                <a:solidFill>
                  <a:srgbClr val="CD682A"/>
                </a:solidFill>
                <a:latin typeface="Tahoma" panose="020B0604030504040204" pitchFamily="34" charset="0"/>
              </a:rPr>
              <a:t>กรอบที่โมเดลเลือกผิด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0DA3A9DF-F09E-C815-136E-074587B66A04}"/>
              </a:ext>
            </a:extLst>
          </p:cNvPr>
          <p:cNvSpPr txBox="1"/>
          <p:nvPr/>
        </p:nvSpPr>
        <p:spPr>
          <a:xfrm>
            <a:off x="5892800" y="4000500"/>
            <a:ext cx="520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ครอบทั้งภาพหรือเพียงบางส่วน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EB109023-C5E8-5DFF-F7C5-75512C8CBCCC}"/>
              </a:ext>
            </a:extLst>
          </p:cNvPr>
          <p:cNvSpPr txBox="1"/>
          <p:nvPr/>
        </p:nvSpPr>
        <p:spPr>
          <a:xfrm>
            <a:off x="901700" y="5397500"/>
            <a:ext cx="10528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ภาพต่างฉาก 6 ภาพ: กรอบ </a:t>
            </a:r>
            <a:r>
              <a:rPr lang="en-US" sz="1700" b="1">
                <a:solidFill>
                  <a:srgbClr val="202F3A"/>
                </a:solidFill>
                <a:latin typeface="Tahoma" panose="020B0604030504040204" pitchFamily="34" charset="0"/>
              </a:rPr>
              <a:t>confidence </a:t>
            </a:r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สูงสุด </a:t>
            </a:r>
            <a:r>
              <a:rPr lang="en-US" sz="1700" b="1">
                <a:solidFill>
                  <a:srgbClr val="202F3A"/>
                </a:solidFill>
                <a:latin typeface="Tahoma" panose="020B0604030504040204" pitchFamily="34" charset="0"/>
              </a:rPr>
              <a:t>IoU≥0.5 </a:t>
            </a:r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เพียง 1 ภาพ</a:t>
            </a:r>
          </a:p>
        </p:txBody>
      </p:sp>
    </p:spTree>
    <p:extLst>
      <p:ext uri="{BB962C8B-B14F-4D97-AF65-F5344CB8AC3E}">
        <p14:creationId xmlns:p14="http://schemas.microsoft.com/office/powerpoint/2010/main" val="632075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781925EA-1C4F-50A5-E344-93A69E5CA66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DD73B30-B607-80FA-9399-AF58AA572AAE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OCR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และ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RKNN: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สถานะจริงของ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pipeline</a:t>
            </a:r>
            <a:endParaRPr lang="th-TH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E698FDE2-19C2-065C-3002-F4980B09624F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แยก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PC baseline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ออกจาก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PC-side SDK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และบอร์ดจริง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8E3C14FF-7475-0975-5283-C31A36765E54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1ED06000-4B61-4069-E7BB-157E4B5123C7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82AED623-5CCB-95C2-F147-4BDD7C0BBB03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B3860064-5E0B-4D24-0125-28F56DCB4C86}"/>
              </a:ext>
            </a:extLst>
          </p:cNvPr>
          <p:cNvSpPr txBox="1"/>
          <p:nvPr/>
        </p:nvSpPr>
        <p:spPr>
          <a:xfrm>
            <a:off x="723900" y="18415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EasyOCR </a:t>
            </a:r>
            <a:r>
              <a:rPr lang="th-TH" sz="2300" b="1">
                <a:solidFill>
                  <a:srgbClr val="11324D"/>
                </a:solidFill>
                <a:latin typeface="Tahoma" panose="020B0604030504040204" pitchFamily="34" charset="0"/>
              </a:rPr>
              <a:t>ไทย/อังกฤษ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FC730B97-F7C9-D18F-A339-72FE81171081}"/>
              </a:ext>
            </a:extLst>
          </p:cNvPr>
          <p:cNvSpPr txBox="1"/>
          <p:nvPr/>
        </p:nvSpPr>
        <p:spPr>
          <a:xfrm>
            <a:off x="723900" y="25019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000" b="1">
                <a:solidFill>
                  <a:srgbClr val="0E8186"/>
                </a:solidFill>
                <a:latin typeface="Tahoma" panose="020B0604030504040204" pitchFamily="34" charset="0"/>
              </a:rPr>
              <a:t>3 ภาพพิมพ์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CAAD9AB-B5AF-9CFB-4D17-FD71A97176DD}"/>
              </a:ext>
            </a:extLst>
          </p:cNvPr>
          <p:cNvSpPr txBox="1"/>
          <p:nvPr/>
        </p:nvSpPr>
        <p:spPr>
          <a:xfrm>
            <a:off x="723900" y="30353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202F3A"/>
                </a:solidFill>
                <a:latin typeface="Tahoma" panose="020B0604030504040204" pitchFamily="34" charset="0"/>
              </a:rPr>
              <a:t>spot-check </a:t>
            </a:r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วันที่/ยอดตรง 4 จาก 6 ช่อง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31E77922-C794-3FFB-B922-E05B4073F3FD}"/>
              </a:ext>
            </a:extLst>
          </p:cNvPr>
          <p:cNvSpPr txBox="1"/>
          <p:nvPr/>
        </p:nvSpPr>
        <p:spPr>
          <a:xfrm>
            <a:off x="723900" y="4127500"/>
            <a:ext cx="5003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ยังไม่ใช่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CER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หรือการสกัด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field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อัตโนมัติ</a:t>
            </a:r>
          </a:p>
        </p:txBody>
      </p: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5F3970AC-B3E0-F3D8-5AE4-B33A7F3F0DD0}"/>
              </a:ext>
            </a:extLst>
          </p:cNvPr>
          <p:cNvCxnSpPr/>
          <p:nvPr/>
        </p:nvCxnSpPr>
        <p:spPr>
          <a:xfrm>
            <a:off x="6134100" y="1765300"/>
            <a:ext cx="0" cy="33655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CDCA57C0-F311-476B-DB88-003BCA44C0AB}"/>
              </a:ext>
            </a:extLst>
          </p:cNvPr>
          <p:cNvSpPr txBox="1"/>
          <p:nvPr/>
        </p:nvSpPr>
        <p:spPr>
          <a:xfrm>
            <a:off x="6680200" y="1841500"/>
            <a:ext cx="4838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RKNN Toolkit2 </a:t>
            </a:r>
            <a:r>
              <a:rPr lang="th-TH" sz="2300" b="1">
                <a:solidFill>
                  <a:srgbClr val="11324D"/>
                </a:solidFill>
                <a:latin typeface="Tahoma" panose="020B0604030504040204" pitchFamily="34" charset="0"/>
              </a:rPr>
              <a:t>บน </a:t>
            </a:r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PC</a:t>
            </a:r>
            <a:endParaRPr lang="th-TH" sz="2300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F2B7405C-7BFF-4053-345E-9CB16A244E2A}"/>
              </a:ext>
            </a:extLst>
          </p:cNvPr>
          <p:cNvSpPr txBox="1"/>
          <p:nvPr/>
        </p:nvSpPr>
        <p:spPr>
          <a:xfrm>
            <a:off x="6680200" y="2501900"/>
            <a:ext cx="4838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328661"/>
                </a:solidFill>
                <a:latin typeface="Tahoma" panose="020B0604030504040204" pitchFamily="34" charset="0"/>
              </a:rPr>
              <a:t>ONNX → RKNN → PC inference: </a:t>
            </a:r>
            <a:r>
              <a:rPr lang="th-TH" sz="1900" b="1">
                <a:solidFill>
                  <a:srgbClr val="328661"/>
                </a:solidFill>
                <a:latin typeface="Tahoma" panose="020B0604030504040204" pitchFamily="34" charset="0"/>
              </a:rPr>
              <a:t>สำเร็จ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6E7ECC3D-3BBE-0246-396A-FB3900DE3174}"/>
              </a:ext>
            </a:extLst>
          </p:cNvPr>
          <p:cNvSpPr txBox="1"/>
          <p:nvPr/>
        </p:nvSpPr>
        <p:spPr>
          <a:xfrm>
            <a:off x="6680200" y="3657600"/>
            <a:ext cx="482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202F3A"/>
                </a:solidFill>
                <a:latin typeface="Tahoma" panose="020B0604030504040204" pitchFamily="34" charset="0"/>
              </a:rPr>
              <a:t>เป้าหมาย </a:t>
            </a:r>
            <a:r>
              <a:rPr lang="en-US" sz="1600">
                <a:solidFill>
                  <a:srgbClr val="202F3A"/>
                </a:solidFill>
                <a:latin typeface="Tahoma" panose="020B0604030504040204" pitchFamily="34" charset="0"/>
              </a:rPr>
              <a:t>RK3588, float build, output (1,5,2100)</a:t>
            </a:r>
            <a:endParaRPr lang="th-TH" sz="1600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2D89E16A-3179-8419-8446-B565AF87BF5C}"/>
              </a:ext>
            </a:extLst>
          </p:cNvPr>
          <p:cNvSpPr txBox="1"/>
          <p:nvPr/>
        </p:nvSpPr>
        <p:spPr>
          <a:xfrm>
            <a:off x="6680200" y="4673600"/>
            <a:ext cx="4775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ยังไม่มี </a:t>
            </a:r>
            <a:r>
              <a:rPr lang="en-US" sz="1500">
                <a:solidFill>
                  <a:srgbClr val="CD682A"/>
                </a:solidFill>
                <a:latin typeface="Tahoma" panose="020B0604030504040204" pitchFamily="34" charset="0"/>
              </a:rPr>
              <a:t>latency / </a:t>
            </a:r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พลังงานจาก </a:t>
            </a:r>
            <a:r>
              <a:rPr lang="en-US" sz="1500">
                <a:solidFill>
                  <a:srgbClr val="CD682A"/>
                </a:solidFill>
                <a:latin typeface="Tahoma" panose="020B0604030504040204" pitchFamily="34" charset="0"/>
              </a:rPr>
              <a:t>NPU </a:t>
            </a:r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จริง</a:t>
            </a:r>
          </a:p>
        </p:txBody>
      </p:sp>
    </p:spTree>
    <p:extLst>
      <p:ext uri="{BB962C8B-B14F-4D97-AF65-F5344CB8AC3E}">
        <p14:creationId xmlns:p14="http://schemas.microsoft.com/office/powerpoint/2010/main" val="153016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832FF9E7-701D-B7DD-D21E-D77621A10D85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91B793E3-A712-E99E-A719-98A20300E28E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แผนดำเนินงานต่อ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54414FEB-BAFC-92D2-4FC1-510230EA044A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ใช้ผลเบื้องต้นกำหนดขั้นพัฒนาและการประเมินระบบ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0E17BA97-8B10-0000-3F64-BC25BA64D787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CB41E09A-FA4B-2B3D-1919-8FFA6E472BA2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โครงงาน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e-Eye  | 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ผลทดลองเบื้องต้นบน </a:t>
            </a:r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PC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5C851D4F-FEE8-F75C-60B3-B51561A0DA0D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607ED367-DD83-7273-0C14-D8448B96CD61}"/>
              </a:ext>
            </a:extLst>
          </p:cNvPr>
          <p:cNvSpPr txBox="1"/>
          <p:nvPr/>
        </p:nvSpPr>
        <p:spPr>
          <a:xfrm>
            <a:off x="736600" y="18542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92DAA279-BD96-A7D4-1AB0-3C417349C43E}"/>
              </a:ext>
            </a:extLst>
          </p:cNvPr>
          <p:cNvSpPr txBox="1"/>
          <p:nvPr/>
        </p:nvSpPr>
        <p:spPr>
          <a:xfrm>
            <a:off x="1422400" y="18796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ตรวจ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label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และทำเฉลย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OCR/JSON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โดยคนสองรอบ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CB1B182-073D-3AF4-CEB4-5EF27D65E1AC}"/>
              </a:ext>
            </a:extLst>
          </p:cNvPr>
          <p:cNvSpPr txBox="1"/>
          <p:nvPr/>
        </p:nvSpPr>
        <p:spPr>
          <a:xfrm>
            <a:off x="736600" y="28956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FB57DEA3-C0E0-E18F-DD57-C69283E8D848}"/>
              </a:ext>
            </a:extLst>
          </p:cNvPr>
          <p:cNvSpPr txBox="1"/>
          <p:nvPr/>
        </p:nvSpPr>
        <p:spPr>
          <a:xfrm>
            <a:off x="1422400" y="29210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เพิ่มภาพหลายพื้น แสง และมุม แล้วกันชุดทดสอบใหม่ไว้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C836E6CA-301D-BB74-820F-B8F4B4515F15}"/>
              </a:ext>
            </a:extLst>
          </p:cNvPr>
          <p:cNvSpPr txBox="1"/>
          <p:nvPr/>
        </p:nvSpPr>
        <p:spPr>
          <a:xfrm>
            <a:off x="736600" y="42037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0D878824-6A70-50C1-AFB1-AEA747AF19BF}"/>
              </a:ext>
            </a:extLst>
          </p:cNvPr>
          <p:cNvSpPr txBox="1"/>
          <p:nvPr/>
        </p:nvSpPr>
        <p:spPr>
          <a:xfrm>
            <a:off x="1422400" y="42291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ทดสอบ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JSON/LLM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และวัด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NPU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จริงเมื่อบอร์ดพร้อม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AA9A8CA0-668C-DE37-4DEB-EE36492F678A}"/>
              </a:ext>
            </a:extLst>
          </p:cNvPr>
          <p:cNvSpPr txBox="1"/>
          <p:nvPr/>
        </p:nvSpPr>
        <p:spPr>
          <a:xfrm>
            <a:off x="736600" y="5435600"/>
            <a:ext cx="10337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เค้าโครงโครงงานกำหนดวิธีทดลองและข้อจำกัดจากผล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PC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ระยะนำร่องนี้</a:t>
            </a:r>
          </a:p>
        </p:txBody>
      </p:sp>
    </p:spTree>
    <p:extLst>
      <p:ext uri="{BB962C8B-B14F-4D97-AF65-F5344CB8AC3E}">
        <p14:creationId xmlns:p14="http://schemas.microsoft.com/office/powerpoint/2010/main" val="3572592102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Office PowerPoint</Application>
  <PresentationFormat>กำหนดเอง</PresentationFormat>
  <Paragraphs>100</Paragraphs>
  <Slides>10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ณัชพล เพ็งพล</dc:creator>
  <cp:lastModifiedBy>ณัชพล เพ็งพล</cp:lastModifiedBy>
  <cp:revision>1</cp:revision>
  <dcterms:created xsi:type="dcterms:W3CDTF">2026-10-17T09:25:58Z</dcterms:created>
  <dcterms:modified xsi:type="dcterms:W3CDTF">2026-10-17T09:25:58Z</dcterms:modified>
</cp:coreProperties>
</file>