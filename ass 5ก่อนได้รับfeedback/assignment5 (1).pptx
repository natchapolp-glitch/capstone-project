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457200"/>
            <a:ext cx="3200400" cy="3200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-548640" y="5394960"/>
            <a:ext cx="2377440" cy="2377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280160"/>
            <a:ext cx="10332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การพัฒนาระบบประสาทส่วนกลางอัจฉริยะในที่พักอาศัย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เพื่อสกัดและวิเคราะห์ข้อมูลห่วงโซ่อุปทานในครัวเรือน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ด้วยปัญญาประดิษฐ์ประมวลผลเฉพาะถิ่น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a Localized Residential Intelligence Engine for Household Supply-Chain Analytics Using Edge Computing and Home Network Infrastructure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38404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6177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จัดทำโดย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673380267-4  นายณัชพล เพ็งพล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673380270-5  นายธนบดี เริ่มรักสกุล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46177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อาจารย์ที่ปรึกษา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ผศ.บุญทรัพย์ ไวคำ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สาขาวิชาวิทยาการคอมพิวเตอร์ · มหาวิทยาลัยขอนแก่น · ปีการศึกษา 2569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ที่มา: ทำไมต้องเป็น Local AI ในบ้าน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การประมวลผล LLM บนคลาวด์แบบดั้งเดิม มีข้อจำกัด 3 เรื่องหลัก ที่การประมวลผลเฉพาะถิ่น (Edge/Local AI) ตอบโจทย์ได้ดีกว่า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ความเป็นส่วนตัว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ข้อมูลใบเสร็จและของใช้ในบ้าน ไม่ต้องออกจากบ้าน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92024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21488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ความหน่วง (Latency)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3063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ประมวลผลใกล้แหล่งข้อมูล ตอบสนองเร็วกว่า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92024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0184" y="21488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ต้นทุนระยะยาว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3063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ไม่ต้องเสียค่าบริการ Cloud API ต่อเนื่อง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สถาปัตยกรรมที่โครงงานนี้เสนอ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2976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58568" y="4681728"/>
            <a:ext cx="219456" cy="274320"/>
          </a:xfrm>
          <a:prstGeom prst="rightArrow">
            <a:avLst/>
          </a:prstGeom>
          <a:solidFill>
            <a:srgbClr val="5A6472"/>
          </a:solidFill>
          <a:ln/>
        </p:spPr>
      </p:sp>
      <p:sp>
        <p:nvSpPr>
          <p:cNvPr id="23" name="Shape 21"/>
          <p:cNvSpPr/>
          <p:nvPr/>
        </p:nvSpPr>
        <p:spPr>
          <a:xfrm>
            <a:off x="2496312" y="429768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496312" y="42976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ตรวจจับเอกสาร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06240" y="4681728"/>
            <a:ext cx="219456" cy="274320"/>
          </a:xfrm>
          <a:prstGeom prst="rightArrow">
            <a:avLst/>
          </a:prstGeom>
          <a:solidFill>
            <a:srgbClr val="5A6472"/>
          </a:solidFill>
          <a:ln/>
        </p:spPr>
      </p:sp>
      <p:sp>
        <p:nvSpPr>
          <p:cNvPr id="26" name="Shape 24"/>
          <p:cNvSpPr/>
          <p:nvPr/>
        </p:nvSpPr>
        <p:spPr>
          <a:xfrm>
            <a:off x="4443984" y="429768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43984" y="42976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สกัดข้อความ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53912" y="4681728"/>
            <a:ext cx="219456" cy="274320"/>
          </a:xfrm>
          <a:prstGeom prst="rightArrow">
            <a:avLst/>
          </a:prstGeom>
          <a:solidFill>
            <a:srgbClr val="5A6472"/>
          </a:solidFill>
          <a:ln/>
        </p:spPr>
      </p:sp>
      <p:sp>
        <p:nvSpPr>
          <p:cNvPr id="29" name="Shape 27"/>
          <p:cNvSpPr/>
          <p:nvPr/>
        </p:nvSpPr>
        <p:spPr>
          <a:xfrm>
            <a:off x="6391656" y="429768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91656" y="42976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01584" y="4681728"/>
            <a:ext cx="219456" cy="274320"/>
          </a:xfrm>
          <a:prstGeom prst="rightArrow">
            <a:avLst/>
          </a:prstGeom>
          <a:solidFill>
            <a:srgbClr val="5A6472"/>
          </a:solidFill>
          <a:ln/>
        </p:spPr>
      </p:sp>
      <p:sp>
        <p:nvSpPr>
          <p:cNvPr id="32" name="Shape 30"/>
          <p:cNvSpPr/>
          <p:nvPr/>
        </p:nvSpPr>
        <p:spPr>
          <a:xfrm>
            <a:off x="8339328" y="429768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39328" y="42976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049256" y="4681728"/>
            <a:ext cx="219456" cy="274320"/>
          </a:xfrm>
          <a:prstGeom prst="rightArrow">
            <a:avLst/>
          </a:prstGeom>
          <a:solidFill>
            <a:srgbClr val="5A6472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87000" y="429768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287000" y="42976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(MQTT)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ผสาน 3 ชั้นนี้ให้ทำงานร่วมกันบนอุปกรณ์ SBC/Edge Server เครื่องเดียว โดยไม่พึ่งพา Cloud เลย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วัตถุประสงค์และขอบเขตการศึกษา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91840" cy="438912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บทความวิจัย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Scopus-indexed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3703320"/>
            <a:ext cx="23774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8862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ฉบับ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สนับสนุนเชิง cross-disciplinary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(วิศวกรรมชีวการแพทย์)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417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6052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344168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ทบทวน–สังเคราะห์งานวิจัยด้าน on-device LLM inference ครอบคลุม 3 มิติของกรอบ Performance Trade-off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60520" y="24688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60520" y="2468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395728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เปรียบเทียบด้วย Synthesis Matrix ระบุจุดร่วม จุดขัดแย้ง และ Research Gap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60520" y="35204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6052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447288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กำหนดสถาปัตยกรรมเชิงแนวคิด (Conceptual Architecture) สำหรับพัฒนาต้นแบบ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160520" y="45720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6052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4498848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วางแผนดำเนินงาน (Roadmap) สำหรับขั้นตอนถัดไปของวิทยานิพนธ์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5532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ขอบเขต: จำกัดที่การทบทวนวรรณกรรมและสังเคราะห์องค์ความรู้เท่านั้น — ยังไม่รวมการทดลองหรือพัฒนาระบบจริง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กระบวนการคัดกรองบทความวิจัย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คัดกรองแบบ Funnel จากบทความตั้งต้น จนเหลือชุดที่ตรงกรอบ Performance Trade-off ของโครงงานโดยตรง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96012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87452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  </a:t>
            </a:r>
            <a:pPr indent="0" marL="0">
              <a:buNone/>
            </a:pPr>
            <a:r>
              <a:rPr lang="en-US" sz="12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บทความที่ค้นพบและติดแท็ก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(On-device/Edge LLM &amp; SLM)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737360" y="2834640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011680" y="28346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  </a:t>
            </a:r>
            <a:pPr indent="0" marL="0">
              <a:buNone/>
            </a:pPr>
            <a:r>
              <a:rPr lang="en-US" sz="12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ผ่านเกณฑ์ Scopus เบื้องต้น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14600" y="3794760"/>
            <a:ext cx="621792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88920" y="379476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  </a:t>
            </a:r>
            <a:pPr indent="0" marL="0">
              <a:buNone/>
            </a:pPr>
            <a:r>
              <a:rPr lang="en-US" sz="12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ยืนยันสถานะแล้ว (เก็บ + ติดแท็บ caveat)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37560" y="475488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47548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</a:t>
            </a:r>
            <a:pPr indent="0" marL="0">
              <a:buNone/>
            </a:pPr>
            <a:r>
              <a:rPr lang="en-US" sz="12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ใช้ในรายงานฉบับนี้ (Synthesis Matrix)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แยกกลุ่มเฉพาะบทความที่ตรงกรอบ Performance Trade-off ของโครงงานนี้โดยตรง: P1–P4, P6, P10 (quantization/hardware) · P8–P9 (structured decoding) · P7, P11–P12 (downstream IoT) · P5 (cross-disciplinary motivation)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มิติของกรอบ Performance Trade-off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4892040"/>
          </a:xfrm>
          <a:prstGeom prst="roundRect">
            <a:avLst>
              <a:gd name="adj" fmla="val 311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52044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Quantization /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Trade-off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201168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P1–P4, P6, P10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862072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71576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บีบอัดแบบจำลองมากขึ้น → ประหยัดพลังงาน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730752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58444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แต่ความแม่นยำลดลงในงานที่ต้องละเอียดสูง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4599432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45312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ทดสอบตั้งแต่ Raspberry Pi ถึง NVIDIA H100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5112" y="1234440"/>
            <a:ext cx="3520440" cy="4892040"/>
          </a:xfrm>
          <a:prstGeom prst="roundRect">
            <a:avLst>
              <a:gd name="adj" fmla="val 3117"/>
            </a:avLst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4325112" y="1234440"/>
            <a:ext cx="352044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53712" y="15087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Grammar-Constrained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Decoding / Structured Output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553712" y="2286000"/>
            <a:ext cx="201168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53712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P8–P9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53712" y="286207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36592" y="271576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บังคับผลลัพธ์ให้เป็น JSON ตาม schema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53712" y="373075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36592" y="358444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SGLang เร่ง throughput ได้ถึง 6.4 เท่า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53712" y="459943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36592" y="445312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ทดสอบบน data-center GPU ไม่ใช่ edge NPU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01584" y="1234440"/>
            <a:ext cx="3520440" cy="4892040"/>
          </a:xfrm>
          <a:prstGeom prst="roundRect">
            <a:avLst>
              <a:gd name="adj" fmla="val 3117"/>
            </a:avLst>
          </a:prstGeom>
          <a:solidFill>
            <a:srgbClr val="F2F2F2"/>
          </a:solidFill>
          <a:ln/>
        </p:spPr>
      </p:sp>
      <p:sp>
        <p:nvSpPr>
          <p:cNvPr id="26" name="Shape 24"/>
          <p:cNvSpPr/>
          <p:nvPr/>
        </p:nvSpPr>
        <p:spPr>
          <a:xfrm>
            <a:off x="8101584" y="1234440"/>
            <a:ext cx="3520440" cy="1371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30184" y="15087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บริบทบ้านอัจฉริยะ /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ปลายน้ำ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330184" y="2286000"/>
            <a:ext cx="201168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30184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P7, P11–P12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30184" y="2862072"/>
            <a:ext cx="73152" cy="7315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13064" y="271576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ตัวแทน LLM ควบคุมอุปกรณ์บ้านอัจฉริยะ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330184" y="3730752"/>
            <a:ext cx="73152" cy="7315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13064" y="358444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Holt-Winters พยากรณ์อนุกรมเวลา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330184" y="4599432"/>
            <a:ext cx="73152" cy="7315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13064" y="445312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Gateway เชื่อมต่อผ่าน MQTT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จุดที่เห็นตรงกัน vs จุดที่ขัดแย้งกัน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EAF3E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จุดร่วม (Consensus)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ทุกงานวิจัยเห็นตรงกันว่า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+ Quantization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จำเป็นต่อการรัน AI ภายใต้ทรัพยากรจำกัด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งานกลุ่ม Fully-local (Husom, Yin, Oloko-Oba)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มุ่งลดพึ่งพา Cloud ให้เหลือน้อยที่สุด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งานชั้นปลายน้ำ (Rivkin, Sawalha, Serepas)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ออกแบบให้เบา (lightweight) ไม่พึ่งทรัพยากรกลาง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BED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508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1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จุดที่ขัดแย้ง/ต่างกัน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5740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ระดับฮาร์ดแวร์ต่างกันมาก: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(RAM 4GB) ↔ NVIDIA H100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ระดับการพึ่งพา Cloud: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บางงาน Hybrid (Cai et al.) บางงาน Fully-local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ผลลัพธ์จากฮาร์ดแวร์แรงสูง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อาจถ่ายโอนมาใช้กับ Edge Server ขนาดเล็กในบ้านไม่ได้โดยตรง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ช่องว่างทางความรู้ (Research Gap)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ทั้ง 3 มิติ ถูกศึกษาแยกจากกันเสมอ — ยังไม่มีงานใดประเมินปฏิสัมพันธ์ร่วมกันบนอุปกรณ์ SBC ทรัพยากรจำกัดจริง ในบริบทที่พักอาศัย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88036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75688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/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P1–P4, P6, P10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503920" y="1965960"/>
            <a:ext cx="288036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03920" y="2075688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Grammar-Constrained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27889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P8–P9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4892040"/>
            <a:ext cx="2880360" cy="1234440"/>
          </a:xfrm>
          <a:prstGeom prst="roundRect">
            <a:avLst>
              <a:gd name="adj" fmla="val 7407"/>
            </a:avLst>
          </a:prstGeom>
          <a:solidFill>
            <a:srgbClr val="3A4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5001768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บ้านอัจฉริยะ / IoT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ปลายน้ำ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57150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P7, P11–P12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51760" y="2834640"/>
            <a:ext cx="2331720" cy="777240"/>
          </a:xfrm>
          <a:prstGeom prst="line">
            <a:avLst/>
          </a:prstGeom>
          <a:noFill/>
          <a:ln w="15875">
            <a:solidFill>
              <a:srgbClr val="6F7FB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flipV="1">
            <a:off x="7178040" y="3611880"/>
            <a:ext cx="2331720" cy="-777240"/>
          </a:xfrm>
          <a:prstGeom prst="line">
            <a:avLst/>
          </a:prstGeom>
          <a:noFill/>
          <a:ln w="15875">
            <a:solidFill>
              <a:srgbClr val="6F7FB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080760" y="3703320"/>
            <a:ext cx="45720" cy="1188720"/>
          </a:xfrm>
          <a:prstGeom prst="line">
            <a:avLst/>
          </a:prstGeom>
          <a:noFill/>
          <a:ln w="15875">
            <a:solidFill>
              <a:srgbClr val="6F7FBF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892040" y="324612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2461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(ยังไม่มีงานใด)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นี่คือช่องว่างที่โครงงานวิทยานิพนธ์นี้ตั้งเป้าเติมเต็ม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สถาปัตยกรรมเชิงแนวคิด (Conceptual Architecture)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บูรณาการทั้ง 3 มิติเข้าด้วยกัน ทำงานประสานกันบนฮาร์ดแวร์ SBC/Edge Server เครื่องเดียว โดยไม่พึ่งพา Cloud ภายนอก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94360" cy="114300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80160" y="1965960"/>
            <a:ext cx="10332720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54480" y="20756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ชั้นตรวจจับและสกัดข้อมูล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688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 → YOLO ตรวจจับเอกสาร → OCR สกัดข้อความ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594360" cy="114300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80160" y="3337560"/>
            <a:ext cx="10332720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554480" y="34472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ชั้นประมวลผล NPU-centric Local LLM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8404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Local LLM + Grammar-Constrained Decoding → JSON ที่ถูกต้อง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594360" cy="1143000"/>
          </a:xfrm>
          <a:prstGeom prst="roundRect">
            <a:avLst>
              <a:gd name="adj" fmla="val 15385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09160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280160" y="4709160"/>
            <a:ext cx="10332720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54480" y="48188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ชั้นประยุกต์ใช้งานปลายน้ำ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2120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ส่งผ่าน MQTT → Home Assistant → Adaptive Holt-Winters พยากรณ์ burn rate → Dashboard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722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จุดต่างจากงานวิจัยที่ทบทวนมา: ทั้ง 3 ชั้นทำงานประสานกันภายใต้เงื่อนไขฮาร์ดแวร์เดียวกัน แทนที่จะออกแบบและประเมินแยกส่วน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แผนดำเนินงานและสรุป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2FBF7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ทบทวน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วรรณกรรม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505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เสร็จสิ้น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441448" y="146304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3A4A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41448" y="14630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Model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YOLO+OCR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441448" y="24505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ยังไม่เริ่ม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34256" y="146304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3A4A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4256" y="14630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LLM +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334256" y="24505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ยังไม่เริ่ม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27064" y="146304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3A4A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27064" y="14630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+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27064" y="24505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ยังไม่เริ่ม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19872" y="146304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3A4A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19872" y="14630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เก็บข้อมูล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นำร่อง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119872" y="24505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ยังไม่เริ่ม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12680" y="146304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3A4A8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12680" y="14630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ประเมินผล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012680" y="24505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ยังไม่เริ่ม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11064240" cy="0"/>
          </a:xfrm>
          <a:prstGeom prst="line">
            <a:avLst/>
          </a:prstGeom>
          <a:noFill/>
          <a:ln w="12700">
            <a:solidFill>
              <a:srgbClr val="3A4A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429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สรุปผลการทบทวนวรรณกรรม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8862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LLM inference ก้าวหน้าต่อเนื่องใน 3 มิติ แต่ยังถูกศึกษาแยกจากกันเสมอ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ยังไม่มีงานใดบูรณาการ ตั้งแต่ตรวจจับเอกสาร → Local LLM → เชื่อมต่อบ้านอัจฉริยะ บนอุปกรณ์ทรัพยากรจำกัดจริง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ช่องว่างนี้ คือกรอบแนวคิดหลักที่จะนำไปพัฒนาในขั้นวิทยานิพนธ์ต่อไป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89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ขอบคุณครับ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2026-09-12T11:34:49Z</dcterms:created>
  <dcterms:modified xsi:type="dcterms:W3CDTF">2026-09-12T11:34:49Z</dcterms:modified>
</cp:coreProperties>
</file>