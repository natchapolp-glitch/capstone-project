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A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92640" y="0"/>
            <a:ext cx="2496312" cy="2834640"/>
          </a:xfrm>
          <a:prstGeom prst="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715000"/>
            <a:ext cx="2011680" cy="1143000"/>
          </a:xfrm>
          <a:prstGeom prst="rect">
            <a:avLst/>
          </a:prstGeom>
          <a:solidFill>
            <a:srgbClr val="137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530352"/>
            <a:ext cx="10698480" cy="5029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100" b="1">
                <a:solidFill>
                  <a:srgbClr val="FFFFFF"/>
                </a:solidFill>
                <a:latin typeface="Tahoma"/>
              </a:defRPr>
            </a:pPr>
            <a:r>
              <a:t>การนำเสนอความก้าวหน้าโครงงานคอมพิวเตอร์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325880"/>
            <a:ext cx="10789920" cy="20574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Tahoma"/>
              </a:defRPr>
            </a:pPr>
            <a:r>
              <a:t>การพัฒนาระบบประสาทส่วนกลางอัจฉริยะในที่พักอาศัย</a:t>
            </a:r>
          </a:p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Tahoma"/>
              </a:defRPr>
            </a:pPr>
            <a:r>
              <a:t>เพื่อสกัดและวิเคราะห์ข้อมูลห่วงโซ่อุปทานในครัวเรือน</a:t>
            </a:r>
          </a:p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Tahoma"/>
              </a:defRPr>
            </a:pPr>
            <a:r>
              <a:t>ด้วยปัญญาประดิษฐ์ประมวลผลเฉพาะถิ่น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3794760"/>
            <a:ext cx="4709160" cy="0"/>
          </a:xfrm>
          <a:prstGeom prst="line">
            <a:avLst/>
          </a:prstGeom>
          <a:ln w="25400">
            <a:solidFill>
              <a:srgbClr val="137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4087368"/>
            <a:ext cx="6492240" cy="8686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FFFFF"/>
                </a:solidFill>
                <a:latin typeface="Tahoma"/>
              </a:defRPr>
            </a:pPr>
            <a:r>
              <a:t>673380267-4 นายณัชพล เพ็งพล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FFFFF"/>
                </a:solidFill>
                <a:latin typeface="Tahoma"/>
              </a:defRPr>
            </a:pPr>
            <a:r>
              <a:t>673380270-5 นายธนบดี เริ่มรักสกุล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7498079" cy="4023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FFFFFF"/>
                </a:solidFill>
                <a:latin typeface="Tahoma"/>
              </a:defRPr>
            </a:pPr>
            <a:r>
              <a:t>อาจารย์ที่ปรึกษา ผศ.บุญทรัพย์ ไวคำ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181344"/>
            <a:ext cx="9144000" cy="2560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FFFFF"/>
                </a:solidFill>
                <a:latin typeface="Tahoma"/>
              </a:defRPr>
            </a:pPr>
            <a:r>
              <a:t>สาขาวิชาวิทยาการคอมพิวเตอร์ มหาวิทยาลัยขอนแก่น</a:t>
            </a: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13A61421-E614-D4AD-C4A1-3A512E06DF13}"/>
              </a:ext>
            </a:extLst>
          </p:cNvPr>
          <p:cNvSpPr txBox="1"/>
          <p:nvPr/>
        </p:nvSpPr>
        <p:spPr>
          <a:xfrm>
            <a:off x="9842500" y="863600"/>
            <a:ext cx="891270" cy="21544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th-TH" sz="1400">
                <a:solidFill>
                  <a:srgbClr val="FFFFFF"/>
                </a:solidFill>
                <a:latin typeface="Tahoma" panose="020B0604030504040204" pitchFamily="34" charset="0"/>
              </a:rPr>
              <a:t>หมายเลขโครงงาน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9DDA437E-7CE7-854A-3F16-040A00CD376A}"/>
              </a:ext>
            </a:extLst>
          </p:cNvPr>
          <p:cNvSpPr txBox="1"/>
          <p:nvPr/>
        </p:nvSpPr>
        <p:spPr>
          <a:xfrm>
            <a:off x="9842500" y="1219200"/>
            <a:ext cx="1354538" cy="44627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900" b="1">
                <a:solidFill>
                  <a:srgbClr val="FFFFFF"/>
                </a:solidFill>
                <a:latin typeface="Tahoma" panose="020B0604030504040204" pitchFamily="34" charset="0"/>
              </a:rPr>
              <a:t>SCS3-4</a:t>
            </a:r>
            <a:endParaRPr lang="th-TH" sz="2900" b="1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CB5A428D-1B07-0A5E-D7A2-6D36850C1675}"/>
              </a:ext>
            </a:extLst>
          </p:cNvPr>
          <p:cNvSpPr txBox="1"/>
          <p:nvPr/>
        </p:nvSpPr>
        <p:spPr>
          <a:xfrm>
            <a:off x="9842500" y="1841500"/>
            <a:ext cx="1009892" cy="2462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th-TH" sz="1600">
                <a:solidFill>
                  <a:srgbClr val="FFFFFF"/>
                </a:solidFill>
                <a:latin typeface="Tahoma" panose="020B0604030504040204" pitchFamily="34" charset="0"/>
              </a:rPr>
              <a:t>กลุ่มสอบ </a:t>
            </a:r>
            <a:r>
              <a:rPr lang="en-US" sz="1600">
                <a:solidFill>
                  <a:srgbClr val="FFFFFF"/>
                </a:solidFill>
                <a:latin typeface="Tahoma" panose="020B0604030504040204" pitchFamily="34" charset="0"/>
              </a:rPr>
              <a:t>SCS3</a:t>
            </a:r>
            <a:endParaRPr lang="th-TH" sz="160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ที่มา: ข้อมูลการซื้อสินค้าอยู่ในเอกสารหลายรูปแบบ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แนวคิดคือประมวลผลในบ้านและเก็บข้อมูลส่วนตัวไว้ใกล้แหล่งข้อมูล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17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65376"/>
            <a:ext cx="3246120" cy="2523744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2057400"/>
            <a:ext cx="466344" cy="347472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07692"/>
            <a:ext cx="283464" cy="2468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Tahoma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70048"/>
            <a:ext cx="2816352" cy="3840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A5D"/>
                </a:solidFill>
                <a:latin typeface="Tahoma"/>
              </a:defRPr>
            </a:pPr>
            <a:r>
              <a:t>ความเป็นส่วนตัว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46120"/>
            <a:ext cx="2816352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1D2F3E"/>
                </a:solidFill>
                <a:latin typeface="Tahoma"/>
              </a:defRPr>
            </a:pPr>
            <a:r>
              <a:t>ใบซื้อสินค้ามีข้อมูลร้าน วันเวลา และข้อมูลส่วนบุคคล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865376"/>
            <a:ext cx="3246120" cy="2523744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63440" y="2057400"/>
            <a:ext cx="466344" cy="347472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2107692"/>
            <a:ext cx="283464" cy="2468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Tahom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670048"/>
            <a:ext cx="2816352" cy="3840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A5D"/>
                </a:solidFill>
                <a:latin typeface="Tahoma"/>
              </a:defRPr>
            </a:pPr>
            <a:r>
              <a:t>ข้อมูลกระจัดกระจาย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246120"/>
            <a:ext cx="2816352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1D2F3E"/>
                </a:solidFill>
                <a:latin typeface="Tahoma"/>
              </a:defRPr>
            </a:pPr>
            <a:r>
              <a:t>ภาพถ่ายต่างร้าน ภาษา และคุณภาพกระดาษ ทำให้อ่านยาก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865376"/>
            <a:ext cx="3246120" cy="2523744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58200" y="2057400"/>
            <a:ext cx="466344" cy="347472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9640" y="2107692"/>
            <a:ext cx="283464" cy="2468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Tahom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2670048"/>
            <a:ext cx="2816352" cy="3840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A5D"/>
                </a:solidFill>
                <a:latin typeface="Tahoma"/>
              </a:defRPr>
            </a:pPr>
            <a:r>
              <a:t>ข้อจำกัดทรัพยากร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3246120"/>
            <a:ext cx="2816352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1D2F3E"/>
                </a:solidFill>
                <a:latin typeface="Tahoma"/>
              </a:defRPr>
            </a:pPr>
            <a:r>
              <a:t>ระบบในบ้านต้องเลือกโมเดลให้เหมาะกับเครื่องขนาดเล็ก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5074920"/>
            <a:ext cx="10789920" cy="69494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100" b="1">
                <a:solidFill>
                  <a:srgbClr val="1D2A5D"/>
                </a:solidFill>
                <a:latin typeface="Tahoma"/>
              </a:defRPr>
            </a:pPr>
            <a:r>
              <a:t>ข้อเสนอของโครงงาน: เปลี่ยนข้อมูลจากการรับรู้ในบ้านเป็นข้อมูลที่ตรวจสอบได้ ก่อนส่งต่อการวิเคราะห์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ภาพรวมระบบประสาทสัมผัสดิจิทัลในบ้าน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e-Senses เป็นกรอบระบบ ส่วนผลทดลองปัจจุบันเจาะลึกที่ e-Eye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17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85615" y="1554480"/>
            <a:ext cx="4617720" cy="667512"/>
          </a:xfrm>
          <a:prstGeom prst="roundRect">
            <a:avLst/>
          </a:prstGeom>
          <a:solidFill>
            <a:srgbClr val="1D2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04487" y="1719072"/>
            <a:ext cx="438912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Tahoma"/>
              </a:defRPr>
            </a:pPr>
            <a:r>
              <a:t>Home Digital Nervous System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9904" y="2221992"/>
            <a:ext cx="0" cy="320040"/>
          </a:xfrm>
          <a:prstGeom prst="line">
            <a:avLst/>
          </a:prstGeom>
          <a:ln w="25400">
            <a:solidFill>
              <a:srgbClr val="137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441448" y="2542032"/>
            <a:ext cx="7306056" cy="0"/>
          </a:xfrm>
          <a:prstGeom prst="line">
            <a:avLst/>
          </a:prstGeom>
          <a:ln w="25400">
            <a:solidFill>
              <a:srgbClr val="137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41448" y="2542032"/>
            <a:ext cx="0" cy="246888"/>
          </a:xfrm>
          <a:prstGeom prst="line">
            <a:avLst/>
          </a:prstGeom>
          <a:ln w="25400">
            <a:solidFill>
              <a:srgbClr val="137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9904" y="2542032"/>
            <a:ext cx="0" cy="246888"/>
          </a:xfrm>
          <a:prstGeom prst="line">
            <a:avLst/>
          </a:prstGeom>
          <a:ln w="25400">
            <a:solidFill>
              <a:srgbClr val="137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747504" y="2542032"/>
            <a:ext cx="0" cy="246888"/>
          </a:xfrm>
          <a:prstGeom prst="line">
            <a:avLst/>
          </a:prstGeom>
          <a:ln w="25400">
            <a:solidFill>
              <a:srgbClr val="137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8368" y="2788920"/>
            <a:ext cx="3566160" cy="1609344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3026664"/>
            <a:ext cx="3182112" cy="3931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FFFFF"/>
                </a:solidFill>
                <a:latin typeface="Tahoma"/>
              </a:defRPr>
            </a:pPr>
            <a:r>
              <a:t>e-Eye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557016"/>
            <a:ext cx="3182112" cy="4023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Tahoma"/>
              </a:defRPr>
            </a:pPr>
            <a:r>
              <a:t>ภาพใบซื้อสินค้า / เอกสาร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096512"/>
            <a:ext cx="3182112" cy="2194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Tahoma"/>
              </a:defRPr>
            </a:pPr>
            <a:r>
              <a:t>ทดลองนำร่อง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2788920"/>
            <a:ext cx="3566160" cy="1609344"/>
          </a:xfrm>
          <a:prstGeom prst="roundRect">
            <a:avLst/>
          </a:prstGeom>
          <a:solidFill>
            <a:srgbClr val="6C8E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07992" y="3026664"/>
            <a:ext cx="3182112" cy="3931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FFFFF"/>
                </a:solidFill>
                <a:latin typeface="Tahoma"/>
              </a:defRPr>
            </a:pPr>
            <a:r>
              <a:t>e-Nose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3557016"/>
            <a:ext cx="3182112" cy="4023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Tahoma"/>
              </a:defRPr>
            </a:pPr>
            <a:r>
              <a:t>ก๊าซ / VOC / กลิ่น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4096512"/>
            <a:ext cx="3182112" cy="2194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Tahoma"/>
              </a:defRPr>
            </a:pPr>
            <a:r>
              <a:t>แนวคิดต่อยอด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2788920"/>
            <a:ext cx="3566160" cy="1609344"/>
          </a:xfrm>
          <a:prstGeom prst="roundRect">
            <a:avLst/>
          </a:prstGeom>
          <a:solidFill>
            <a:srgbClr val="6C8E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65592" y="3026664"/>
            <a:ext cx="3182112" cy="3931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FFFFF"/>
                </a:solidFill>
                <a:latin typeface="Tahoma"/>
              </a:defRPr>
            </a:pPr>
            <a:r>
              <a:t>e-Skin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3557016"/>
            <a:ext cx="3182112" cy="4023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Tahoma"/>
              </a:defRPr>
            </a:pPr>
            <a:r>
              <a:t>น้ำหนัก / แรงสัมผัส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5592" y="4096512"/>
            <a:ext cx="3182112" cy="2194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Tahoma"/>
              </a:defRPr>
            </a:pPr>
            <a:r>
              <a:t>แนวคิดต่อยอด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983480"/>
            <a:ext cx="10881360" cy="7863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A5D"/>
                </a:solidFill>
                <a:latin typeface="Tahoma"/>
              </a:defRPr>
            </a:pPr>
            <a:r>
              <a:t>การศึกษาระยะนี้ใช้ e-Eye เป็นจุดเริ่มต้นของระบบรวม ไม่ได้เปลี่ยนชื่อหรือขอบเขตแนวคิดของทั้งโครงงาน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วัตถุประสงค์และขอบเขต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แยกเป้าหมายของโครงงานออกจากสิ่งที่ทดลองแล้ว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17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591056"/>
            <a:ext cx="5440680" cy="411480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54496" y="1591056"/>
            <a:ext cx="5257800" cy="4114800"/>
          </a:xfrm>
          <a:prstGeom prst="roundRect">
            <a:avLst/>
          </a:prstGeom>
          <a:solidFill>
            <a:srgbClr val="E8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837943"/>
            <a:ext cx="4910328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D2A5D"/>
                </a:solidFill>
                <a:latin typeface="Tahoma"/>
              </a:defRPr>
            </a:pPr>
            <a:r>
              <a:t>เป้าหมายของโครงงาน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4828032" cy="29718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1  ออกแบบสถาปัตยกรรม e-Senses และ pipeline ในบ้าน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2  สกัดข้อมูลใบซื้อสินค้าเป็น JSON ที่ตรวจสอบได้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3  ประเมินความแม่นยำ เวลา และทรัพยากรบน PC ก่อนย้ายสู่อุปกรณ์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4  ส่งต่อข้อมูลสู่ระบบบ้านอัจฉริยะและวิเคราะห์การใช้เมื่อมีข้อมูลเพียงพอ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837943"/>
            <a:ext cx="4709160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006289"/>
                </a:solidFill>
                <a:latin typeface="Tahoma"/>
              </a:defRPr>
            </a:pPr>
            <a:r>
              <a:t>ขอบเขตผลที่มีแล้ว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423160"/>
            <a:ext cx="4617720" cy="22402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ภาพจริงและ EDA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YOLOv8n ตรวจกรอบเอกสารบน PC CPU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OCR spot-check 3 ภาพ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แปลง ONNX เป็น RKNN และรันผ่าน SDK บน PC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1384" y="4882896"/>
            <a:ext cx="4462272" cy="347472"/>
          </a:xfrm>
          <a:prstGeom prst="roundRect">
            <a:avLst/>
          </a:prstGeom>
          <a:solidFill>
            <a:srgbClr val="C05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92824" y="4933188"/>
            <a:ext cx="4279392" cy="2468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Tahoma"/>
              </a:defRPr>
            </a:pPr>
            <a:r>
              <a:t>ยังไม่มีผล NPU จริงหรือ JSON/LLM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ฐานวิชาการ: คัดกรองวรรณกรรมก่อนออกแบบ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รายงานทบทวนวรรณกรรม 32 หน้าเป็นฐานของสถาปัตยกรรมและคำถามวิจัย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17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0995" y="1691640"/>
            <a:ext cx="9966960" cy="621792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3875" y="1792224"/>
            <a:ext cx="594360" cy="35661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FFFFFF"/>
                </a:solidFill>
                <a:latin typeface="Tahoma"/>
              </a:defRPr>
            </a:pPr>
            <a:r>
              <a:t>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2828" y="1847088"/>
            <a:ext cx="8833104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FFFFF"/>
                </a:solidFill>
                <a:latin typeface="Tahoma"/>
              </a:defRPr>
            </a:pPr>
            <a:r>
              <a:t>ค้นพบและติดแท็ก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33956" y="2542032"/>
            <a:ext cx="8321040" cy="621792"/>
          </a:xfrm>
          <a:prstGeom prst="roundRect">
            <a:avLst/>
          </a:prstGeom>
          <a:solidFill>
            <a:srgbClr val="137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16836" y="2642616"/>
            <a:ext cx="594360" cy="35661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FFFFFF"/>
                </a:solidFill>
                <a:latin typeface="Tahoma"/>
              </a:defRPr>
            </a:pPr>
            <a:r>
              <a:t>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5788" y="2697480"/>
            <a:ext cx="7187183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FFFFF"/>
                </a:solidFill>
                <a:latin typeface="Tahoma"/>
              </a:defRPr>
            </a:pPr>
            <a:r>
              <a:t>ผ่านเกณฑ์ Scopus เบื้องต้น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1196" y="3392424"/>
            <a:ext cx="6766560" cy="621792"/>
          </a:xfrm>
          <a:prstGeom prst="roundRect">
            <a:avLst/>
          </a:prstGeom>
          <a:solidFill>
            <a:srgbClr val="268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94076" y="3493008"/>
            <a:ext cx="594360" cy="35661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FFFFFF"/>
                </a:solidFill>
                <a:latin typeface="Tahoma"/>
              </a:defRPr>
            </a:pPr>
            <a:r>
              <a:t>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3028" y="3547872"/>
            <a:ext cx="5632704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FFFFF"/>
                </a:solidFill>
                <a:latin typeface="Tahoma"/>
              </a:defRPr>
            </a:pPr>
            <a:r>
              <a:t>ยืนยันสถานะแล้ว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4156" y="4242816"/>
            <a:ext cx="5120640" cy="621792"/>
          </a:xfrm>
          <a:prstGeom prst="roundRect">
            <a:avLst/>
          </a:prstGeom>
          <a:solidFill>
            <a:srgbClr val="1D2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17036" y="4343400"/>
            <a:ext cx="594360" cy="35661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FFFFFF"/>
                </a:solidFill>
                <a:latin typeface="Tahoma"/>
              </a:defRPr>
            </a:pPr>
            <a: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5988" y="4398264"/>
            <a:ext cx="3986783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FFFFF"/>
                </a:solidFill>
                <a:latin typeface="Tahoma"/>
              </a:defRPr>
            </a:pPr>
            <a:r>
              <a:t>ใช้สังเคราะห์ในรายงาน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376672"/>
            <a:ext cx="10607040" cy="53035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576975"/>
                </a:solidFill>
                <a:latin typeface="Tahoma"/>
              </a:defRPr>
            </a:pPr>
            <a:r>
              <a:t>12 ฉบับถูกจัดตามสามมิติของกรอบ Performance Trade-off; อีก 1 ฉบับใช้สนับสนุนข้ามศาสตร์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3 มิติของกรอบ Performance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ข้อสรุปจากงานทบทวน ใช้กำหนดตัวแปรและตัววัดของการทดลอง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17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73936"/>
            <a:ext cx="3154680" cy="320040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4944" y="1773936"/>
            <a:ext cx="3154680" cy="118872"/>
          </a:xfrm>
          <a:prstGeom prst="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075688"/>
            <a:ext cx="2761488" cy="6400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A5D"/>
                </a:solidFill>
                <a:latin typeface="Tahoma"/>
              </a:defRPr>
            </a:pPr>
            <a:r>
              <a:t>Quantization / 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916936"/>
            <a:ext cx="2743200" cy="13350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ขนาดโมเดล เวลา หน่วยความจำ และความแม่นยำต้องประเมินร่วมกัน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4535424"/>
            <a:ext cx="2697480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37E9A"/>
                </a:solidFill>
                <a:latin typeface="Tahoma"/>
              </a:defRPr>
            </a:pPr>
            <a:r>
              <a:t>P1–P4, P6, P10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136" y="1773936"/>
            <a:ext cx="3154680" cy="320040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17136" y="1773936"/>
            <a:ext cx="3154680" cy="118872"/>
          </a:xfrm>
          <a:prstGeom prst="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45736" y="2075688"/>
            <a:ext cx="2761488" cy="6400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A5D"/>
                </a:solidFill>
                <a:latin typeface="Tahoma"/>
              </a:defRPr>
            </a:pPr>
            <a:r>
              <a:t>Structured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916936"/>
            <a:ext cx="2743200" cy="13350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JSON ที่ parse ได้ยังต้องตรวจว่าฟิลด์และรายการสินค้าตรงหลักฐาน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4535424"/>
            <a:ext cx="2697480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37E9A"/>
                </a:solidFill>
                <a:latin typeface="Tahoma"/>
              </a:defRPr>
            </a:pPr>
            <a:r>
              <a:t>P8–P9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9327" y="1773936"/>
            <a:ext cx="3154680" cy="320040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39327" y="1773936"/>
            <a:ext cx="3154680" cy="118872"/>
          </a:xfrm>
          <a:prstGeom prst="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67928" y="2075688"/>
            <a:ext cx="2761488" cy="6400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A5D"/>
                </a:solidFill>
                <a:latin typeface="Tahoma"/>
              </a:defRPr>
            </a:pPr>
            <a:r>
              <a:t>Smart Home / IoT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2916936"/>
            <a:ext cx="2743200" cy="13350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ข้อมูลที่ผ่านการตรวจจึงส่งต่อระบบบ้านและการวิเคราะห์ปลายน้ำ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4535424"/>
            <a:ext cx="2697480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37E9A"/>
                </a:solidFill>
                <a:latin typeface="Tahoma"/>
              </a:defRPr>
            </a:pPr>
            <a:r>
              <a:t>P7, P11–P12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85816"/>
            <a:ext cx="10698480" cy="5486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ขอบเขตของข้อค้นพบ: เป็นผลการสังเคราะห์ภายในชุดบทความที่คัด ไม่ใช่การพิสูจน์ว่าทั่วโลกไม่มีงานอื่น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จุดร่วมและความต่างของงานที่ทบทวน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ผลต่างด้านเครื่องและโจทย์ทำให้ย้ายตัวเลขจากบทความมาอ้างกับระบบบ้านไม่ได้ตรง 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17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1627632"/>
            <a:ext cx="5175504" cy="3520440"/>
          </a:xfrm>
          <a:prstGeom prst="roundRect">
            <a:avLst/>
          </a:prstGeom>
          <a:solidFill>
            <a:srgbClr val="E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08776" y="1627632"/>
            <a:ext cx="5175504" cy="3520440"/>
          </a:xfrm>
          <a:prstGeom prst="roundRect">
            <a:avLst/>
          </a:prstGeom>
          <a:solidFill>
            <a:srgbClr val="FA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901952"/>
            <a:ext cx="4663440" cy="3840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D2A5D"/>
                </a:solidFill>
                <a:latin typeface="Tahoma"/>
              </a:defRPr>
            </a:pPr>
            <a:r>
              <a:t>แนวโน้มร่วม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569464"/>
            <a:ext cx="4572000" cy="19659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ใช้การบีบอัดเพื่อลดภาระทรัพยากร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ให้ความสำคัญกับการประมวลผลใกล้ข้อมูล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ออกแบบชั้นเชื่อม IoT ให้ใช้ทรัพยากรต่ำ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901952"/>
            <a:ext cx="4572000" cy="3931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D2A5D"/>
                </a:solidFill>
                <a:latin typeface="Tahoma"/>
              </a:defRPr>
            </a:pPr>
            <a:r>
              <a:t>ความต่างที่มีผลต่อการนำมาใช้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569464"/>
            <a:ext cx="4553712" cy="19842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อุปกรณ์ตั้งแต่ SBC ถึง GPU ระดับศูนย์ข้อมูล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บางระบบเป็น hybrid บางระบบอยู่ในเครื่อง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โจทย์และตัววัดไม่ตรงกับใบซื้อสินค้าไทย/อังกฤษ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40680"/>
            <a:ext cx="10552176" cy="5394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1D2A5D"/>
                </a:solidFill>
                <a:latin typeface="Tahoma"/>
              </a:defRPr>
            </a:pPr>
            <a:r>
              <a:t>จึงต้องทดสอบกับข้อมูลและ pipeline ของโครงงานเอง โดยรายงานผล PC และ NPU แยกกัน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A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Tahoma"/>
              </a:defRPr>
            </a:pPr>
            <a:r>
              <a:t>ช่องว่างที่โครงงานจะศึกษา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FFFFF"/>
                </a:solidFill>
                <a:latin typeface="Tahoma"/>
              </a:defRPr>
            </a:pPr>
            <a:r>
              <a:t>งานที่ทบทวนมักรายงานผลของแต่ละชั้นแยกกัน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137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FFFFFF"/>
                </a:solidFill>
                <a:latin typeface="Tahoma"/>
              </a:defRPr>
            </a:pPr>
            <a:r>
              <a:t>โครงงานคอมพิวเตอร์ | รายงานความก้าวหน้า | 17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FFFFFF"/>
                </a:solidFill>
                <a:latin typeface="Tahoma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1865376"/>
            <a:ext cx="3172968" cy="1078992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185416"/>
            <a:ext cx="2898648" cy="3931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400"/>
              </a:spcAft>
              <a:defRPr sz="1900" b="1">
                <a:solidFill>
                  <a:srgbClr val="FFFFFF"/>
                </a:solidFill>
                <a:latin typeface="Tahoma"/>
              </a:defRPr>
            </a:pPr>
            <a:r>
              <a:t>โมเดล / ฮาร์ดแวร์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1865376"/>
            <a:ext cx="3172968" cy="1078992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8" y="2185416"/>
            <a:ext cx="2898648" cy="3931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400"/>
              </a:spcAft>
              <a:defRPr sz="1900" b="1">
                <a:solidFill>
                  <a:srgbClr val="FFFFFF"/>
                </a:solidFill>
                <a:latin typeface="Tahoma"/>
              </a:defRPr>
            </a:pPr>
            <a:r>
              <a:t>JSON / ความถูกต้อง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02168" y="1865376"/>
            <a:ext cx="3172968" cy="1078992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9328" y="2185416"/>
            <a:ext cx="2898648" cy="3931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400"/>
              </a:spcAft>
              <a:defRPr sz="1900" b="1">
                <a:solidFill>
                  <a:srgbClr val="FFFFFF"/>
                </a:solidFill>
                <a:latin typeface="Tahoma"/>
              </a:defRPr>
            </a:pPr>
            <a:r>
              <a:t>ระบบบ้าน / ปลายน้ำ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3685032"/>
            <a:ext cx="1828800" cy="3840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FFD37B"/>
                </a:solidFill>
                <a:latin typeface="Tahoma"/>
              </a:defRPr>
            </a:pPr>
            <a:r>
              <a:t>คำถามวิจัย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69663"/>
            <a:ext cx="10469880" cy="9601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FFFFFF"/>
                </a:solidFill>
                <a:latin typeface="Tahoma"/>
              </a:defRPr>
            </a:pPr>
            <a:r>
              <a:t>เมื่อนำขั้นตอนเหล่านี้มาต่อกันบนทรัพยากรจำกัด</a:t>
            </a:r>
          </a:p>
          <a:p>
            <a:pPr algn="l">
              <a:spcAft>
                <a:spcPts val="400"/>
              </a:spcAft>
              <a:defRPr sz="2500" b="1">
                <a:solidFill>
                  <a:srgbClr val="FFFFFF"/>
                </a:solidFill>
                <a:latin typeface="Tahoma"/>
              </a:defRPr>
            </a:pPr>
            <a:r>
              <a:t>ความผิดพลาดของข้อมูลกับต้นทุนประมวลผลเปลี่ยนอย่างไร?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50992"/>
            <a:ext cx="10515600" cy="3383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FFFFF"/>
                </a:solidFill>
                <a:latin typeface="Tahoma"/>
              </a:defRPr>
            </a:pPr>
            <a:r>
              <a:t>ผลนำร่อง e-Eye เป็นหลักฐานแรกของคำถามนี้ ยังไม่ใช่ผลครบทั้งระบบ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สถาปัตยกรรมเชิงแนวคิดของโครงงาน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ภาพรวมสามชั้นจากรายงานทบทวนวรรณกรรม พร้อมสถานะปัจจุบัน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17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1572768"/>
            <a:ext cx="576072" cy="859536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783080"/>
            <a:ext cx="320040" cy="4023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FFFFFF"/>
                </a:solidFill>
                <a:latin typeface="Tahoma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81328" y="1572768"/>
            <a:ext cx="9966960" cy="86868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91640" y="1682495"/>
            <a:ext cx="2157984" cy="3108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1D2A5D"/>
                </a:solidFill>
                <a:latin typeface="Tahoma"/>
              </a:defRPr>
            </a:pPr>
            <a:r>
              <a:t>รับรู้และสกัด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1673352"/>
            <a:ext cx="5605272" cy="5943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ภาพ → YOLO ตรวจกรอบ → OCR ไทย/อังกฤษ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36608" y="1783080"/>
            <a:ext cx="1847088" cy="3383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300" b="1">
                <a:solidFill>
                  <a:srgbClr val="006289"/>
                </a:solidFill>
                <a:latin typeface="Tahoma"/>
              </a:defRPr>
            </a:pPr>
            <a:r>
              <a:t>มีผลนำร่องบน PC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" y="2916936"/>
            <a:ext cx="576072" cy="859536"/>
          </a:xfrm>
          <a:prstGeom prst="roundRect">
            <a:avLst/>
          </a:prstGeom>
          <a:solidFill>
            <a:srgbClr val="137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3127248"/>
            <a:ext cx="320040" cy="4023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FFFFFF"/>
                </a:solidFill>
                <a:latin typeface="Tahoma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81328" y="2916936"/>
            <a:ext cx="9966960" cy="86868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91640" y="3026664"/>
            <a:ext cx="2157984" cy="3108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1D2A5D"/>
                </a:solidFill>
                <a:latin typeface="Tahoma"/>
              </a:defRPr>
            </a:pPr>
            <a:r>
              <a:t>ประมวลผลในเครื่อง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3017520"/>
            <a:ext cx="5605272" cy="5943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Local LLM + quantization + บังคับ JSON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6608" y="3127248"/>
            <a:ext cx="1847088" cy="3383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300" b="1">
                <a:solidFill>
                  <a:srgbClr val="137E9A"/>
                </a:solidFill>
                <a:latin typeface="Tahoma"/>
              </a:defRPr>
            </a:pPr>
            <a:r>
              <a:t>อยู่ในแผนทดลอง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4261104"/>
            <a:ext cx="576072" cy="859536"/>
          </a:xfrm>
          <a:prstGeom prst="roundRect">
            <a:avLst/>
          </a:prstGeom>
          <a:solidFill>
            <a:srgbClr val="1D2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4471416"/>
            <a:ext cx="320040" cy="4023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FFFFFF"/>
                </a:solidFill>
                <a:latin typeface="Tahoma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81328" y="4261104"/>
            <a:ext cx="9966960" cy="86868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91640" y="4370832"/>
            <a:ext cx="2157984" cy="3108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1D2A5D"/>
                </a:solidFill>
                <a:latin typeface="Tahoma"/>
              </a:defRPr>
            </a:pPr>
            <a:r>
              <a:t>ใช้งานปลายน้ำ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5887" y="4361688"/>
            <a:ext cx="5605272" cy="5943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ข้อมูลที่ตรวจแล้ว → MQTT / Home Assistant → วิเคราะห์การใช้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8" y="4471416"/>
            <a:ext cx="1847088" cy="3383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300" b="1">
                <a:solidFill>
                  <a:srgbClr val="1D2A5D"/>
                </a:solidFill>
                <a:latin typeface="Tahoma"/>
              </a:defRPr>
            </a:pPr>
            <a:r>
              <a:t>อยู่ในแผนต่อยอด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843016"/>
            <a:ext cx="10789920" cy="3474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576975"/>
                </a:solidFill>
                <a:latin typeface="Tahoma"/>
              </a:defRPr>
            </a:pPr>
            <a:r>
              <a:t>ใบเสร็จบอกการซื้อเข้า; การคำนวณ burn rate ต้องมีข้อมูลคงเหลือหรือการใช้ตามเวลาเพิ่มเติม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ความคืบหน้าที่เพิ่มจากกรอบแนวคิด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รับภาพจริงและคัดชุดใบซื้อสินค้าเพื่อเริ่มการทดลอง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17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746504"/>
            <a:ext cx="2999232" cy="89611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4800" b="1">
                <a:solidFill>
                  <a:srgbClr val="006289"/>
                </a:solidFill>
                <a:latin typeface="Tahoma"/>
              </a:defRPr>
            </a:pPr>
            <a:r>
              <a:t>124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60904"/>
            <a:ext cx="2971800" cy="5029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D2F3E"/>
                </a:solidFill>
                <a:latin typeface="Tahoma"/>
              </a:defRPr>
            </a:pPr>
            <a:r>
              <a:t>ไฟล์ที่รับ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746504"/>
            <a:ext cx="2999232" cy="89611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4800" b="1">
                <a:solidFill>
                  <a:srgbClr val="006289"/>
                </a:solidFill>
                <a:latin typeface="Tahoma"/>
              </a:defRPr>
            </a:pPr>
            <a:r>
              <a:t>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660904"/>
            <a:ext cx="2971800" cy="5029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D2F3E"/>
                </a:solidFill>
                <a:latin typeface="Tahoma"/>
              </a:defRPr>
            </a:pPr>
            <a:r>
              <a:t>ภาพ SHA-256 ไม่ซ้ำ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1" y="1746504"/>
            <a:ext cx="2999232" cy="89611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4800" b="1">
                <a:solidFill>
                  <a:srgbClr val="137E9A"/>
                </a:solidFill>
                <a:latin typeface="Tahoma"/>
              </a:defRPr>
            </a:pPr>
            <a:r>
              <a:t>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1" y="2660904"/>
            <a:ext cx="2971800" cy="5029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D2F3E"/>
                </a:solidFill>
                <a:latin typeface="Tahoma"/>
              </a:defRPr>
            </a:pPr>
            <a:r>
              <a:t>ภาพผู้สมัครใบซื้อสินค้า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5840" y="3410712"/>
            <a:ext cx="10213848" cy="0"/>
          </a:xfrm>
          <a:prstGeom prst="line">
            <a:avLst/>
          </a:prstGeom>
          <a:ln w="19050">
            <a:solidFill>
              <a:srgbClr val="D2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2104" y="3712463"/>
            <a:ext cx="10424160" cy="8686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100" b="1">
                <a:solidFill>
                  <a:srgbClr val="1D2A5D"/>
                </a:solidFill>
                <a:latin typeface="Tahoma"/>
              </a:defRPr>
            </a:pPr>
            <a:r>
              <a:t>จาก 59 ภาพ แยกทดลองตัวตรวจจับ 48 ภาพฉากเดิม (38 ฝึก / 10 ตรวจ) และ 6 ภาพต่างฉาก; อีก 5 ภาพกันออก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5020056"/>
            <a:ext cx="10149840" cy="6126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576975"/>
                </a:solidFill>
                <a:latin typeface="Tahoma"/>
              </a:defRPr>
            </a:pPr>
            <a:r>
              <a:t>จำนวนภาพไม่เท่ากับจำนวนธุรกรรมอิสระ; ประเภทภาพและกรอบอ้างอิงยังต้องให้ผู้วิจัยตรวจซ้ำ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สำรวจภาพใบซื้อสินค้า 59 ภาพ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ผล EDA ช่วยระบุความหลากหลายที่ต้องเพิ่มก่อนทดสอบจริง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17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11</a:t>
            </a:r>
          </a:p>
        </p:txBody>
      </p:sp>
      <p:pic>
        <p:nvPicPr>
          <p:cNvPr id="7" name="Picture 6" descr="eda_itemized_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444752"/>
            <a:ext cx="1078992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" y="5166360"/>
            <a:ext cx="10789920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D2A5D"/>
                </a:solidFill>
                <a:latin typeface="Tahoma"/>
              </a:defRPr>
            </a:pPr>
            <a:r>
              <a:t>พิมพ์ 41 / เขียนมือ 18  |  แนวตั้ง 38 / แนวนอน 21  |  ความสว่างมัธยฐานทั้งภาพ 173.9/255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5742432"/>
            <a:ext cx="10744200" cy="3108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576975"/>
                </a:solidFill>
                <a:latin typeface="Tahoma"/>
              </a:defRPr>
            </a:pPr>
            <a:r>
              <a:t>ตรวจทิศตัวหนังสือครบ 59 ภาพ: อ่านตรงเดิม 41 / ตะแคง 18; ค่าความสว่างรวมพื้นหลัง</a:t>
            </a: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A101672B-6DB3-6F96-40F2-DE3F08D128A5}"/>
              </a:ext>
            </a:extLst>
          </p:cNvPr>
          <p:cNvSpPr txBox="1"/>
          <p:nvPr/>
        </p:nvSpPr>
        <p:spPr>
          <a:xfrm>
            <a:off x="762000" y="6070600"/>
            <a:ext cx="4599016" cy="21544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th-TH" sz="1400">
                <a:solidFill>
                  <a:srgbClr val="586974"/>
                </a:solidFill>
                <a:latin typeface="Tahoma" panose="020B0604030504040204" pitchFamily="34" charset="0"/>
              </a:rPr>
              <a:t>ชื่อสินค้า: ถอดครบ 12 ภาพ / ยังอ่านไม่ครบ 45 / ไม่มีบรรทัดชื่อ 2; ยังไม่สรุปสัดส่วนภาษาทั้งชุด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ผลนำร่อง YOLOv8n: สองชุดภาพให้คะแนนต่างกัน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โมเดลเดียวกัน ฝึกบน PC CPU; mAP@0.5 วัดการตรวจจับกรอบใบซื้อสินค้า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17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709928"/>
            <a:ext cx="4297680" cy="10241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5000" b="1">
                <a:solidFill>
                  <a:srgbClr val="137E9A"/>
                </a:solidFill>
                <a:latin typeface="Tahoma"/>
              </a:defRPr>
            </a:pPr>
            <a:r>
              <a:t>0.928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770632"/>
            <a:ext cx="4389120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F3E"/>
                </a:solidFill>
                <a:latin typeface="Tahoma"/>
              </a:defRPr>
            </a:pPr>
            <a:r>
              <a:t>ตรวจ 10 ภาพจากชุดแรก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1709928"/>
            <a:ext cx="4389120" cy="10241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5000" b="1">
                <a:solidFill>
                  <a:srgbClr val="C05C2B"/>
                </a:solidFill>
                <a:latin typeface="Tahoma"/>
              </a:defRPr>
            </a:pPr>
            <a:r>
              <a:t>0.237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70632"/>
            <a:ext cx="4462272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F3E"/>
                </a:solidFill>
                <a:latin typeface="Tahoma"/>
              </a:defRPr>
            </a:pPr>
            <a:r>
              <a:t>ภาพส่งเพิ่ม 6 ภาพ (ฉากใหม่)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611880"/>
            <a:ext cx="9966960" cy="265176"/>
          </a:xfrm>
          <a:prstGeom prst="rect">
            <a:avLst/>
          </a:prstGeom>
          <a:solidFill>
            <a:srgbClr val="E0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3611880"/>
            <a:ext cx="9249338" cy="265176"/>
          </a:xfrm>
          <a:prstGeom prst="rect">
            <a:avLst/>
          </a:prstGeom>
          <a:solidFill>
            <a:srgbClr val="137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" y="4270248"/>
            <a:ext cx="9966960" cy="265176"/>
          </a:xfrm>
          <a:prstGeom prst="rect">
            <a:avLst/>
          </a:prstGeom>
          <a:solidFill>
            <a:srgbClr val="E0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" y="4270248"/>
            <a:ext cx="2362169" cy="265176"/>
          </a:xfrm>
          <a:prstGeom prst="rect">
            <a:avLst/>
          </a:prstGeom>
          <a:solidFill>
            <a:srgbClr val="C05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047488"/>
            <a:ext cx="10149840" cy="5486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D2A5D"/>
                </a:solidFill>
                <a:latin typeface="Tahoma"/>
              </a:defRPr>
            </a:pPr>
            <a:r>
              <a:t>ผลต่างระหว่างชุดยังอธิบายไม่ได้ทั้งหมด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96712"/>
            <a:ext cx="1042416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6 ภาพไม่ได้ใช้ฝึก; ความสว่างมัธยฐานทั้งภาพ 172.5 เทียบ 122.2; ตรวจผลการหมุนหน้าถัดไป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ทดสอบผลของการหมุนภาพแบบจับคู่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ใช้โมเดลเดิมและภาพเดิม หมุนกรอบเฉลยตามภาพ; ไม่ฝึกเพิ่ม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17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536192"/>
            <a:ext cx="10652760" cy="4297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D2A5D"/>
                </a:solidFill>
                <a:latin typeface="Tahoma"/>
              </a:defRPr>
            </a:pPr>
            <a:r>
              <a:t>ตรวจภาพด้วยตา: ตัวหนังสือหมุนข้าง 3/10 ในชุดแรก และ 6/6 ในชุดส่งเพิ่ม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12848"/>
            <a:ext cx="5212080" cy="3191256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7920" y="2212848"/>
            <a:ext cx="5212080" cy="3191256"/>
          </a:xfrm>
          <a:prstGeom prst="roundRect">
            <a:avLst/>
          </a:prstGeom>
          <a:solidFill>
            <a:srgbClr val="E8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6696" y="2505456"/>
            <a:ext cx="4590288" cy="3931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1D2A5D"/>
                </a:solidFill>
                <a:latin typeface="Tahoma"/>
              </a:defRPr>
            </a:pPr>
            <a:r>
              <a:t>7 ภาพจากชุดแรกที่อ่านตรง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145536"/>
            <a:ext cx="1664208" cy="6583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137E9A"/>
                </a:solidFill>
                <a:latin typeface="Tahoma"/>
              </a:defRPr>
            </a:pPr>
            <a:r>
              <a:t>0.995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3784" y="3227832"/>
            <a:ext cx="512064" cy="4480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576975"/>
                </a:solidFill>
                <a:latin typeface="Tahoma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3145536"/>
            <a:ext cx="2011680" cy="6583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C05C2B"/>
                </a:solidFill>
                <a:latin typeface="Tahoma"/>
              </a:defRPr>
            </a:pPr>
            <a:r>
              <a:t>0.492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68496"/>
            <a:ext cx="1828800" cy="3383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1D2F3E"/>
                </a:solidFill>
                <a:latin typeface="Tahoma"/>
              </a:defRPr>
            </a:pPr>
            <a:r>
              <a:t>ต้นฉบับ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3968496"/>
            <a:ext cx="1828800" cy="3383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1D2F3E"/>
                </a:solidFill>
                <a:latin typeface="Tahoma"/>
              </a:defRPr>
            </a:pPr>
            <a:r>
              <a:t>หมุน 90°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45152"/>
            <a:ext cx="4608576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D2A5D"/>
                </a:solidFill>
                <a:latin typeface="Tahoma"/>
              </a:defRPr>
            </a:pPr>
            <a:r>
              <a:t>mAP@0.5 ลดลงเมื่อหมุนภาพเดิม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505456"/>
            <a:ext cx="4590288" cy="3931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1D2A5D"/>
                </a:solidFill>
                <a:latin typeface="Tahoma"/>
              </a:defRPr>
            </a:pPr>
            <a:r>
              <a:t>6 ภาพที่ส่งเพิ่ม (เดิมหมุนข้าง)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145536"/>
            <a:ext cx="1664208" cy="6583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C05C2B"/>
                </a:solidFill>
                <a:latin typeface="Tahoma"/>
              </a:defRPr>
            </a:pPr>
            <a:r>
              <a:t>0.237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3227832"/>
            <a:ext cx="512064" cy="4480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576975"/>
                </a:solidFill>
                <a:latin typeface="Tahoma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5984" y="3145536"/>
            <a:ext cx="2011680" cy="6583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137E9A"/>
                </a:solidFill>
                <a:latin typeface="Tahoma"/>
              </a:defRPr>
            </a:pPr>
            <a:r>
              <a:t>0.714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968496"/>
            <a:ext cx="1828800" cy="3383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1D2F3E"/>
                </a:solidFill>
                <a:latin typeface="Tahoma"/>
              </a:defRPr>
            </a:pPr>
            <a:r>
              <a:t>ภาพเดิม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3968496"/>
            <a:ext cx="2121408" cy="4754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1D2F3E"/>
                </a:solidFill>
                <a:latin typeface="Tahoma"/>
              </a:defRPr>
            </a:pPr>
            <a:r>
              <a:t>หมุนกลับให้อ่านตรง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645152"/>
            <a:ext cx="4608576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D2A5D"/>
                </a:solidFill>
                <a:latin typeface="Tahoma"/>
              </a:defRPr>
            </a:pPr>
            <a:r>
              <a:t>mAP@0.5 เพิ่มขึ้นโดยไม่ฝึกเพิ่ม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769864"/>
            <a:ext cx="10616184" cy="43891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576975"/>
                </a:solidFill>
                <a:latin typeface="Tahoma"/>
              </a:defRPr>
            </a:pPr>
            <a:r>
              <a:t>ผลนี้ชี้ความไวต่อการหมุนในชุดเล็ก ยังไม่พิสูจน์ว่านี่เป็นสาเหตุเดียวของคะแนนต่างระหว่างชุด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การทดลองบน PC ก่อนมีบอร์ด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แยกผลที่วัดจริงออกจากความสามารถที่จะตรวจในระยะถัดไป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17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55064"/>
            <a:ext cx="5212080" cy="3502152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08776" y="1655064"/>
            <a:ext cx="5212080" cy="3502152"/>
          </a:xfrm>
          <a:prstGeom prst="roundRect">
            <a:avLst/>
          </a:prstGeom>
          <a:solidFill>
            <a:srgbClr val="E8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01952"/>
            <a:ext cx="4590288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D2A5D"/>
                </a:solidFill>
                <a:latin typeface="Tahoma"/>
              </a:defRPr>
            </a:pPr>
            <a:r>
              <a:t>EasyOCR ไทย / อังกฤษ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4617720" cy="213055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900" b="0">
                <a:solidFill>
                  <a:srgbClr val="1D2F3E"/>
                </a:solidFill>
                <a:latin typeface="Tahoma"/>
              </a:defRPr>
            </a:pPr>
            <a:r>
              <a:t>ตรวจภาพพิมพ์ 3 ภาพ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D2F3E"/>
                </a:solidFill>
                <a:latin typeface="Tahoma"/>
              </a:defRPr>
            </a:pPr>
            <a:r>
              <a:t>วันที่และยอดตรง 4 จาก 6 ช่อง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D2F3E"/>
                </a:solidFill>
                <a:latin typeface="Tahoma"/>
              </a:defRPr>
            </a:pPr>
            <a:r>
              <a:t>เป็น spot-check โดยคนหนึ่งรอบ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D2F3E"/>
                </a:solidFill>
                <a:latin typeface="Tahoma"/>
              </a:defRPr>
            </a:pPr>
            <a:r>
              <a:t>ยังไม่ใช่ CER หรือผล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901952"/>
            <a:ext cx="4608576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D2A5D"/>
                </a:solidFill>
                <a:latin typeface="Tahoma"/>
              </a:defRPr>
            </a:pPr>
            <a:r>
              <a:t>RKNN Toolkit2 บน 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2505456"/>
            <a:ext cx="4590288" cy="213055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ONNX → RKNN เป้าหมาย RK3588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รัน inference ผ่าน SDK บน PC ได้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ยังไม่ quantize และยังไม่มีค่า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เวลา RAM หรือพลังงานบน NPU จริง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5486400"/>
            <a:ext cx="5184648" cy="347472"/>
          </a:xfrm>
          <a:prstGeom prst="roundRect">
            <a:avLst/>
          </a:prstGeom>
          <a:solidFill>
            <a:srgbClr val="C05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93592" y="5536692"/>
            <a:ext cx="5001768" cy="2468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Tahoma"/>
              </a:defRPr>
            </a:pPr>
            <a:r>
              <a:t>PC-side check ≠ NPU benchmark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เดโมบน PC: จากภาพไปสู่กรอบเอกสาร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ตัวอย่างจริงจากชุดตรวจฉากเดิม แสดงภาพต้นฉบับคู่กับผล YOLOv8n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17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499616"/>
            <a:ext cx="242316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1D2A5D"/>
                </a:solidFill>
                <a:latin typeface="Tahoma"/>
              </a:defRPr>
            </a:pPr>
            <a:r>
              <a:t>ภาพต้นฉบับ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912" y="1499616"/>
            <a:ext cx="242316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1D2A5D"/>
                </a:solidFill>
                <a:latin typeface="Tahoma"/>
              </a:defRPr>
            </a:pPr>
            <a:r>
              <a:t>ผลตรวจจับบน PC</a:t>
            </a:r>
          </a:p>
        </p:txBody>
      </p:sp>
      <p:pic>
        <p:nvPicPr>
          <p:cNvPr id="9" name="Picture 8" descr="R4F4EA934251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5" y="1856231"/>
            <a:ext cx="2377440" cy="4215384"/>
          </a:xfrm>
          <a:prstGeom prst="rect">
            <a:avLst/>
          </a:prstGeom>
        </p:spPr>
      </p:pic>
      <p:pic>
        <p:nvPicPr>
          <p:cNvPr id="10" name="Picture 9" descr="demo_receipt_detec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856231"/>
            <a:ext cx="2377440" cy="42153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65576" y="3657600"/>
            <a:ext cx="338328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137E9A"/>
                </a:solidFill>
                <a:latin typeface="Tahoma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48272" y="1856231"/>
            <a:ext cx="4636008" cy="4215384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0" y="2121408"/>
            <a:ext cx="4069080" cy="43891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D2A5D"/>
                </a:solidFill>
                <a:latin typeface="Tahoma"/>
              </a:defRPr>
            </a:pPr>
            <a:r>
              <a:t>สิ่งที่สาธิต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761488"/>
            <a:ext cx="3904487" cy="21488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โมเดลจากการฝึก 38 ภาพบน PC CPU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ภาพนี้อยู่ในชุดตรวจฉากเดิม 10 ภาพ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แสดง 1 กรอบที่ confidence 0.981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ตั้งเกณฑ์แสดงผล confidence ≥ 0.80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5276088"/>
            <a:ext cx="4005072" cy="58521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C05C2B"/>
                </a:solidFill>
                <a:latin typeface="Tahoma"/>
              </a:defRPr>
            </a:pPr>
            <a:r>
              <a:t>ภาพตัวอย่างหนึ่งภาพ ไม่ใช่ผลทดสอบข้ามฉากหรือผลบน NPU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งานถัดไปจากผลนำร่อง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ลำดับงานรักษาทิศทางของโครงงานทั้งระบบ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17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545336"/>
            <a:ext cx="530352" cy="530352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636776"/>
            <a:ext cx="237744" cy="2468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ahom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44" y="1536192"/>
            <a:ext cx="224028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A5D"/>
                </a:solidFill>
                <a:latin typeface="Tahoma"/>
              </a:defRPr>
            </a:pPr>
            <a:r>
              <a:t>แก้ชุดข้อมูล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191" y="1527048"/>
            <a:ext cx="7315200" cy="6400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ตรวจ label / ธุรกรรมซ้ำ และทำเฉลย OCR–JSON สองรอบ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514600"/>
            <a:ext cx="530352" cy="530352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2606040"/>
            <a:ext cx="237744" cy="2468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ahoma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9344" y="2505456"/>
            <a:ext cx="224028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A5D"/>
                </a:solidFill>
                <a:latin typeface="Tahoma"/>
              </a:defRPr>
            </a:pPr>
            <a:r>
              <a:t>วัดแต่ละชั้น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1" y="2496312"/>
            <a:ext cx="7315200" cy="6400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เพิ่มฉากใหม่ เปรียบเทียบ OCR และทดสอบ LLM / JSON บน PC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483864"/>
            <a:ext cx="530352" cy="530352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3575304"/>
            <a:ext cx="237744" cy="2468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ahoma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9344" y="3474720"/>
            <a:ext cx="224028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A5D"/>
                </a:solidFill>
                <a:latin typeface="Tahoma"/>
              </a:defRPr>
            </a:pPr>
            <a:r>
              <a:t>ตรวจการส่งออก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1" y="3465576"/>
            <a:ext cx="7315200" cy="6400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ทดสอบ quantization และ PC-side SDK โดยเก็บเวอร์ชันกับผล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453128"/>
            <a:ext cx="530352" cy="530352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4544568"/>
            <a:ext cx="237744" cy="2468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ahoma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9344" y="4443984"/>
            <a:ext cx="224028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A5D"/>
                </a:solidFill>
                <a:latin typeface="Tahoma"/>
              </a:defRPr>
            </a:pPr>
            <a:r>
              <a:t>ต่อระบบและฮาร์ดแวร์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4434840"/>
            <a:ext cx="7315200" cy="6400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ทดสอบ MQTT ด้วยข้อมูลที่ตรวจแล้ว; ย้ายขึ้นบอร์ดเมื่อพร้อม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632704"/>
            <a:ext cx="10515600" cy="4480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อุปกรณ์เป้าหมายในระยะขอยืม: RK3588; จะวัด NPU จริงหลังได้รับบอร์ดและยืนยัน SDK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A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Tahoma"/>
              </a:defRPr>
            </a:pPr>
            <a:r>
              <a:t>สรุปความก้าวหน้า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FFFFF"/>
                </a:solidFill>
                <a:latin typeface="Tahoma"/>
              </a:defRPr>
            </a:pPr>
            <a:r>
              <a:t>จากการทบทวนวรรณกรรมสู่หลักฐานทดลองนำร่อง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137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FFFFFF"/>
                </a:solidFill>
                <a:latin typeface="Tahoma"/>
              </a:defRPr>
            </a:pPr>
            <a:r>
              <a:t>โครงงานคอมพิวเตอร์ | รายงานความก้าวหน้า | 17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FFFFFF"/>
                </a:solidFill>
                <a:latin typeface="Tahoma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74519"/>
            <a:ext cx="10424160" cy="6766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FFFFF"/>
                </a:solidFill>
                <a:latin typeface="Tahoma"/>
              </a:defRPr>
            </a:pPr>
            <a:r>
              <a:t>กรอบระบบ e-Senses และ pipeline สามชั้นยังเป็นเป้าหมายหลักของโครงงาน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916936"/>
            <a:ext cx="10369296" cy="15087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200" b="0">
                <a:solidFill>
                  <a:srgbClr val="FFFFFF"/>
                </a:solidFill>
                <a:latin typeface="Tahoma"/>
              </a:defRPr>
            </a:pPr>
            <a:r>
              <a:t>วันนี้มีภาพจริง 59 ภาพผู้สมัคร และผล YOLO บน PC ที่ต่างกันระหว่างสองชุดภาพ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FFFFFF"/>
                </a:solidFill>
                <a:latin typeface="Tahoma"/>
              </a:defRPr>
            </a:pPr>
            <a:r>
              <a:t>จึงมีข้อมูลใช้วางการทดลอง OCR, JSON/LLM และฮาร์ดแวร์ขั้นถัดไป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96112" y="5047488"/>
            <a:ext cx="3803904" cy="0"/>
          </a:xfrm>
          <a:prstGeom prst="line">
            <a:avLst/>
          </a:prstGeom>
          <a:ln w="25400">
            <a:solidFill>
              <a:srgbClr val="137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05256" y="5340096"/>
            <a:ext cx="9875520" cy="5669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FFFFF"/>
                </a:solidFill>
                <a:latin typeface="Tahoma"/>
              </a:defRPr>
            </a:pPr>
            <a:r>
              <a:t>ขอบคุณครับ  |  คำถามและข้อเสนอแนะ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1599</Words>
  <Application>Microsoft Office PowerPoint</Application>
  <PresentationFormat>แบบจอกว้าง</PresentationFormat>
  <Paragraphs>225</Paragraphs>
  <Slides>17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17</vt:i4>
      </vt:variant>
    </vt:vector>
  </HeadingPairs>
  <TitlesOfParts>
    <vt:vector size="21" baseType="lpstr">
      <vt:lpstr>Arial</vt:lpstr>
      <vt:lpstr>Calibri</vt:lpstr>
      <vt:lpstr>Tahoma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ความก้าวหน้าโครงงานระบบประสาทส่วนกลางอัจฉริยะในที่พักอาศัย</dc:title>
  <dc:subject>การนำเสนอความก้าวหน้าโครงงานคอมพิวเตอร์</dc:subject>
  <dc:creator/>
  <cp:keywords/>
  <dc:description>generated using python-pptx</dc:description>
  <cp:lastModifiedBy>ณัชพล เพ็งพล</cp:lastModifiedBy>
  <cp:revision>2</cp:revision>
  <dcterms:created xsi:type="dcterms:W3CDTF">2013-01-27T09:14:16Z</dcterms:created>
  <dcterms:modified xsi:type="dcterms:W3CDTF">2026-10-17T15:01:00Z</dcterms:modified>
  <cp:category/>
</cp:coreProperties>
</file>