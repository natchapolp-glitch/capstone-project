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A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92640" y="0"/>
            <a:ext cx="2496312" cy="2834640"/>
          </a:xfrm>
          <a:prstGeom prst="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15000"/>
            <a:ext cx="2011680" cy="1143000"/>
          </a:xfrm>
          <a:prstGeom prst="rect">
            <a:avLst/>
          </a:prstGeom>
          <a:solidFill>
            <a:srgbClr val="137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530352"/>
            <a:ext cx="10698480" cy="502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1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การนำเสนอความก้าวหน้าโครงงานคอมพิวเตอร์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325880"/>
            <a:ext cx="10789920" cy="20574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การพัฒนาระบบประสาทส่วนกลางอัจฉริยะในที่พักอาศัย</a:t>
            </a:r>
          </a:p>
          <a:p>
            <a:pPr algn="l">
              <a:spcAft>
                <a:spcPts val="400"/>
              </a:spcAft>
              <a:defRPr sz="28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เพื่อสกัดและวิเคราะห์ข้อมูลห่วงโซ่อุปทานในครัวเรือน</a:t>
            </a:r>
          </a:p>
          <a:p>
            <a:pPr algn="l">
              <a:spcAft>
                <a:spcPts val="400"/>
              </a:spcAft>
              <a:defRPr sz="28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ด้วยปัญญาประดิษฐ์ประมวลผลเฉพาะถิ่น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3794760"/>
            <a:ext cx="4709160" cy="0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4087368"/>
            <a:ext cx="6492240" cy="8686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673380267-4 นายณัชพล เพ็งพล</a:t>
            </a:r>
          </a:p>
          <a:p>
            <a:pPr algn="l">
              <a:spcAft>
                <a:spcPts val="400"/>
              </a:spcAft>
              <a:defRPr sz="18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673380270-5 นายธนบดี เริ่มรักสกุล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7498079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อาจารย์ที่ปรึกษา ผศ.บุญทรัพย์ ไวคำ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5596128"/>
            <a:ext cx="7589520" cy="34747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หมายเลขโครงงาน SCS3-4  |  กลุ่มสอบ SCS3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181344"/>
            <a:ext cx="91440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1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สาขาวิชาวิทยาการคอมพิวเตอร์ มหาวิทยาลัยขอนแก่น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ที่มา: ทำไมจึงออกแบบให้ประมวลผลในบ้าน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ความเป็นส่วนตัว เวลา และต้นทุน เป็นเป้าหมายการออกแบบที่ยังต้องวัดกับระบบจริง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65376"/>
            <a:ext cx="3246120" cy="252374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057400"/>
            <a:ext cx="466344" cy="34747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07692"/>
            <a:ext cx="28346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3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670048"/>
            <a:ext cx="2816352" cy="3840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ความเป็นส่วนตัว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246120"/>
            <a:ext cx="2816352" cy="9326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ใบซื้อสินค้ามีข้อมูลส่วนบุคคล จึงต้องกำกับการเก็บและส่งต่อ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865376"/>
            <a:ext cx="3246120" cy="252374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2057400"/>
            <a:ext cx="466344" cy="34747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107692"/>
            <a:ext cx="28346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3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2670048"/>
            <a:ext cx="2816352" cy="3840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เวลาและต้นทุน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246120"/>
            <a:ext cx="2816352" cy="9326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ตั้งเป้าลดการพึ่งพา Cloud API แต่ยังไม่ได้เปรียบเทียบจริง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865376"/>
            <a:ext cx="3246120" cy="252374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58200" y="2057400"/>
            <a:ext cx="466344" cy="34747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2107692"/>
            <a:ext cx="28346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3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6488" y="2670048"/>
            <a:ext cx="2816352" cy="3840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ข้อมูลและทรัพยากร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3246120"/>
            <a:ext cx="2816352" cy="9326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ภาพต่างร้าน ภาษา และแสง ต้องประมวลผลบนเครื่องจำกัด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" y="5074920"/>
            <a:ext cx="10789920" cy="6949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1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แนวทางเดิมยังอยู่: รับภาพ → YOLO/OCR → Local LLM/JSON → MQTT/Home Assistant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ภาพรวมระบบประสาทสัมผัสดิจิทัลในบ้าน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e-Senses เป็นกรอบระบบ ส่วนผลทดลองปัจจุบันเจาะลึกที่ e-Eye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5615" y="1554480"/>
            <a:ext cx="4617720" cy="667512"/>
          </a:xfrm>
          <a:prstGeom prst="roundRect">
            <a:avLst/>
          </a:prstGeom>
          <a:solidFill>
            <a:srgbClr val="1D2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7" y="1719072"/>
            <a:ext cx="438912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8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Home Digital Nervous System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9904" y="2221992"/>
            <a:ext cx="0" cy="320040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41448" y="2542032"/>
            <a:ext cx="7306056" cy="0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441448" y="2542032"/>
            <a:ext cx="0" cy="246888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89904" y="2542032"/>
            <a:ext cx="0" cy="246888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747504" y="2542032"/>
            <a:ext cx="0" cy="246888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8368" y="2788920"/>
            <a:ext cx="3566160" cy="1609344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026664"/>
            <a:ext cx="3182112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4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e-Eye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3557016"/>
            <a:ext cx="3182112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ภาพใบซื้อสินค้า / เอกสาร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4096512"/>
            <a:ext cx="3182112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2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ทดลองนำร่อง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788920"/>
            <a:ext cx="3566160" cy="1609344"/>
          </a:xfrm>
          <a:prstGeom prst="roundRect">
            <a:avLst/>
          </a:prstGeom>
          <a:solidFill>
            <a:srgbClr val="6C8E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7992" y="3026664"/>
            <a:ext cx="3182112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4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e-Nose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3557016"/>
            <a:ext cx="3182112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ก๊าซ / VOC / กลิ่น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4096512"/>
            <a:ext cx="3182112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2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แนวคิดต่อยอด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2788920"/>
            <a:ext cx="3566160" cy="1609344"/>
          </a:xfrm>
          <a:prstGeom prst="roundRect">
            <a:avLst/>
          </a:prstGeom>
          <a:solidFill>
            <a:srgbClr val="6C8E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65592" y="3026664"/>
            <a:ext cx="3182112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4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e-Skin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65592" y="3557016"/>
            <a:ext cx="3182112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น้ำหนัก / แรงสัมผัส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5592" y="4096512"/>
            <a:ext cx="3182112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2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แนวคิดต่อยอด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983480"/>
            <a:ext cx="10881360" cy="7863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การศึกษาระยะนี้ใช้ e-Eye เป็นจุดเริ่มต้นของระบบรวม ไม่ได้เปลี่ยนชื่อหรือขอบเขตแนวคิดของทั้งโครงงาน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วัตถุประสงค์และขอบเขต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แยกเป้าหมายของโครงงานออกจากสิ่งที่ทดลองแล้ว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591056"/>
            <a:ext cx="5440680" cy="411480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54496" y="1591056"/>
            <a:ext cx="5257800" cy="4114800"/>
          </a:xfrm>
          <a:prstGeom prst="roundRect">
            <a:avLst/>
          </a:prstGeom>
          <a:solidFill>
            <a:srgbClr val="E8F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837943"/>
            <a:ext cx="4910328" cy="4206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เป้าหมายของโครงงาน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828032" cy="29718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  ออกแบบสถาปัตยกรรม e-Senses และ pipeline ในบ้าน</a:t>
            </a:r>
          </a:p>
          <a:p>
            <a:pPr algn="l">
              <a:spcAft>
                <a:spcPts val="400"/>
              </a:spcAft>
              <a:defRPr sz="17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2  สกัดข้อมูลใบซื้อสินค้าเป็น JSON ที่ตรวจสอบได้</a:t>
            </a:r>
          </a:p>
          <a:p>
            <a:pPr algn="l">
              <a:spcAft>
                <a:spcPts val="400"/>
              </a:spcAft>
              <a:defRPr sz="17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3  ประเมินความแม่นยำ เวลา และทรัพยากรบน PC ก่อนย้ายสู่อุปกรณ์</a:t>
            </a:r>
          </a:p>
          <a:p>
            <a:pPr algn="l">
              <a:spcAft>
                <a:spcPts val="400"/>
              </a:spcAft>
              <a:defRPr sz="17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4  ส่งต่อข้อมูลสู่ระบบบ้านอัจฉริยะและวิเคราะห์การใช้เมื่อมีข้อมูลเพียงพอ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1837943"/>
            <a:ext cx="4709160" cy="4206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 lang="th-TH">
                <a:solidFill>
                  <a:srgbClr val="006289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ขอบเขตผลที่มีแล้ว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423160"/>
            <a:ext cx="4617720" cy="22402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ภาพจริงและ EDA</a:t>
            </a:r>
          </a:p>
          <a:p>
            <a:pPr algn="l">
              <a:spcAft>
                <a:spcPts val="400"/>
              </a:spcAft>
              <a:defRPr sz="18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YOLOv8n ตรวจกรอบเอกสารบน PC CPU</a:t>
            </a:r>
          </a:p>
          <a:p>
            <a:pPr algn="l">
              <a:spcAft>
                <a:spcPts val="400"/>
              </a:spcAft>
              <a:defRPr sz="18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OCR spot-check 3 ภาพ</a:t>
            </a:r>
          </a:p>
          <a:p>
            <a:pPr algn="l">
              <a:spcAft>
                <a:spcPts val="400"/>
              </a:spcAft>
              <a:defRPr sz="18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แปลง ONNX เป็น RKNN และรันผ่าน SDK บน 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01384" y="4882896"/>
            <a:ext cx="4462272" cy="347472"/>
          </a:xfrm>
          <a:prstGeom prst="roundRect">
            <a:avLst/>
          </a:prstGeom>
          <a:solidFill>
            <a:srgbClr val="C05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2824" y="4933188"/>
            <a:ext cx="4279392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3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ยังไม่มีผล NPU จริงหรือ JSON/LLM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ฐานวิชาการ: คัดกรองวรรณกรรมก่อนออกแบบ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รายงานทบทวนวรรณกรรม 32 หน้าเป็นฐานของสถาปัตยกรรมและคำถามวิจัย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0995" y="1691640"/>
            <a:ext cx="9966960" cy="62179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3875" y="1792224"/>
            <a:ext cx="594360" cy="35661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3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2828" y="1847088"/>
            <a:ext cx="883310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ค้นพบและติดแท็ก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33956" y="2542032"/>
            <a:ext cx="8321040" cy="621792"/>
          </a:xfrm>
          <a:prstGeom prst="roundRect">
            <a:avLst/>
          </a:prstGeom>
          <a:solidFill>
            <a:srgbClr val="137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16836" y="2642616"/>
            <a:ext cx="594360" cy="35661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3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75788" y="2697480"/>
            <a:ext cx="7187183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สถานะ Scopus เบื้องต้น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11196" y="3392424"/>
            <a:ext cx="6766560" cy="621792"/>
          </a:xfrm>
          <a:prstGeom prst="roundRect">
            <a:avLst/>
          </a:prstGeom>
          <a:solidFill>
            <a:srgbClr val="268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94076" y="3493008"/>
            <a:ext cx="594360" cy="35661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3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3028" y="3547872"/>
            <a:ext cx="563270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คงไว้หลังตรวจซ้ำ (มีข้อสงวน 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34156" y="4242816"/>
            <a:ext cx="5120640" cy="621792"/>
          </a:xfrm>
          <a:prstGeom prst="roundRect">
            <a:avLst/>
          </a:prstGeom>
          <a:solidFill>
            <a:srgbClr val="1D2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17036" y="4343400"/>
            <a:ext cx="594360" cy="35661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3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5988" y="4398264"/>
            <a:ext cx="3986783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ใช้สังเคราะห์ในรายงาน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5376672"/>
            <a:ext cx="10607040" cy="5303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บทความ 12 ฉบับรวม P5 ที่ใช้สนับสนุนข้ามศาสตร์; อีก 11 ฉบับอยู่ในกรอบสามมิติ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3 มิติของกรอบ Performance Trade-off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ข้อสรุปจากงานทบทวน ใช้กำหนดตัวแปรและตัววัดของการทดลอง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73936"/>
            <a:ext cx="3154680" cy="320040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4944" y="1773936"/>
            <a:ext cx="3154680" cy="118872"/>
          </a:xfrm>
          <a:prstGeom prst="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075688"/>
            <a:ext cx="2761488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Quantization / Hardware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916936"/>
            <a:ext cx="2743200" cy="13350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Husom และ Giedra ชี้ให้วัดความถูกต้องคู่กับเวลา RAM และพลังงาน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4535424"/>
            <a:ext cx="26974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200" b="1" lang="th-TH">
                <a:solidFill>
                  <a:srgbClr val="137E9A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P1–P4, P6, P10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17136" y="1773936"/>
            <a:ext cx="3154680" cy="320040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17136" y="1773936"/>
            <a:ext cx="3154680" cy="118872"/>
          </a:xfrm>
          <a:prstGeom prst="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5736" y="2075688"/>
            <a:ext cx="2761488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Structured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2916936"/>
            <a:ext cx="2743200" cy="13350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SGLang เป็นฐานคิดเรื่อง grammar; ต้องตรวจทั้ง schema และค่าจากใบเสร็จ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5736" y="4535424"/>
            <a:ext cx="26974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200" b="1" lang="th-TH">
                <a:solidFill>
                  <a:srgbClr val="137E9A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P8–P9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39327" y="1773936"/>
            <a:ext cx="3154680" cy="320040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39327" y="1773936"/>
            <a:ext cx="3154680" cy="118872"/>
          </a:xfrm>
          <a:prstGeom prst="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67928" y="2075688"/>
            <a:ext cx="2761488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Smart Home / IoT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7928" y="2916936"/>
            <a:ext cx="2743200" cy="13350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ESP32/MQTT และอนุกรมเวลาเป็นฐานชั้นปลายน้ำเมื่อมีข้อมูลเพียงพอ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4535424"/>
            <a:ext cx="26974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200" b="1" lang="th-TH">
                <a:solidFill>
                  <a:srgbClr val="137E9A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P7, P11–P12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106984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4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ขอบเขตของข้อค้นพบ: เป็นผลการสังเคราะห์ภายในชุดบทความที่คัด ไม่ใช่การพิสูจน์ว่าทั่วโลกไม่มีงานอื่น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79592"/>
            <a:ext cx="1074420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0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ที่มา: Husom et al. (2025), Giedra et al. (2026), Zheng et al. (2024), Sawalha &amp; Al-Naymat (2025), Serepas et al. (2025)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จุดร่วมและความต่างของงานที่ทบทวน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ผลต่างด้านเครื่องและโจทย์ทำให้ย้ายตัวเลขจากบทความมาอ้างกับระบบบ้านไม่ได้ตรง ๆ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1627632"/>
            <a:ext cx="5175504" cy="3520440"/>
          </a:xfrm>
          <a:prstGeom prst="roundRect">
            <a:avLst/>
          </a:prstGeom>
          <a:solidFill>
            <a:srgbClr val="E1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08776" y="1627632"/>
            <a:ext cx="5175504" cy="3520440"/>
          </a:xfrm>
          <a:prstGeom prst="roundRect">
            <a:avLst/>
          </a:prstGeom>
          <a:solidFill>
            <a:srgbClr val="FA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1901952"/>
            <a:ext cx="4663440" cy="3840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แนวโน้มร่วม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569464"/>
            <a:ext cx="4572000" cy="19659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ใช้การบีบอัดเพื่อลดภาระทรัพยากร</a:t>
            </a:r>
          </a:p>
          <a:p>
            <a:pPr algn="l">
              <a:spcAft>
                <a:spcPts val="400"/>
              </a:spcAft>
              <a:defRPr sz="18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ให้ความสำคัญกับการประมวลผลใกล้ข้อมูล</a:t>
            </a:r>
          </a:p>
          <a:p>
            <a:pPr algn="l">
              <a:spcAft>
                <a:spcPts val="400"/>
              </a:spcAft>
              <a:defRPr sz="18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ออกแบบชั้นเชื่อม IoT ให้ใช้ทรัพยากรต่ำ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901952"/>
            <a:ext cx="4572000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ความต่างที่มีผลต่อการนำมาใช้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569464"/>
            <a:ext cx="4553712" cy="19842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อุปกรณ์ตั้งแต่ SBC ถึง GPU ระดับศูนย์ข้อมูล</a:t>
            </a:r>
          </a:p>
          <a:p>
            <a:pPr algn="l">
              <a:spcAft>
                <a:spcPts val="400"/>
              </a:spcAft>
              <a:defRPr sz="18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บางระบบเป็น hybrid บางระบบอยู่ในเครื่อง</a:t>
            </a:r>
          </a:p>
          <a:p>
            <a:pPr algn="l">
              <a:spcAft>
                <a:spcPts val="400"/>
              </a:spcAft>
              <a:defRPr sz="18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โจทย์และตัววัดไม่ตรงกับใบซื้อสินค้าไทย/อังกฤษ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440680"/>
            <a:ext cx="10552176" cy="5394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จึงต้องทดสอบกับข้อมูลและ pipeline ของโครงงานเอง โดยรายงานผล PC และ NPU แยกกัน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A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ช่องว่างที่โครงงานจะศึกษา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งานที่ทบทวนมักรายงานผลของแต่ละชั้นแยกกัน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1865376"/>
            <a:ext cx="3172968" cy="107899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85416"/>
            <a:ext cx="2898648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9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โมเดล / ฮาร์ดแวร์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98848" y="1865376"/>
            <a:ext cx="3172968" cy="107899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2185416"/>
            <a:ext cx="2898648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9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JSON / ความถูกต้อง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02168" y="1865376"/>
            <a:ext cx="3172968" cy="107899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9328" y="2185416"/>
            <a:ext cx="2898648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9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ระบบบ้าน / ปลายน้ำ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3685032"/>
            <a:ext cx="1828800" cy="3840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 lang="th-TH">
                <a:solidFill>
                  <a:srgbClr val="FFD37B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คำถามวิจัย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69663"/>
            <a:ext cx="10469880" cy="9601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5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เมื่อนำขั้นตอนเหล่านี้มาต่อกันบนทรัพยากรจำกัด</a:t>
            </a:r>
          </a:p>
          <a:p>
            <a:pPr algn="l">
              <a:spcAft>
                <a:spcPts val="400"/>
              </a:spcAft>
              <a:defRPr sz="25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ความผิดพลาดของข้อมูลกับต้นทุนประมวลผลเปลี่ยนอย่างไร?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50992"/>
            <a:ext cx="10515600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ผลนำร่อง e-Eye เป็นหลักฐานแรกของคำถามนี้ ยังไม่ใช่ผลครบทั้งระบบ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สถาปัตยกรรมเชิงแนวคิดของโครงงาน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ภาพรวมสามชั้นจากรายงานทบทวนวรรณกรรม พร้อมสถานะปัจจุบัน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1572768"/>
            <a:ext cx="576072" cy="859536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783080"/>
            <a:ext cx="320040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23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81328" y="1572768"/>
            <a:ext cx="9966960" cy="86868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1682495"/>
            <a:ext cx="2157984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รับรู้และสกัด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7" y="1673352"/>
            <a:ext cx="5605272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ภาพถ่ายก่อน; IP Camera ตามแผน → YOLO → OCR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36608" y="1783080"/>
            <a:ext cx="184708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1300" b="1" lang="th-TH">
                <a:solidFill>
                  <a:srgbClr val="006289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มีผลนำร่องบน 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2916936"/>
            <a:ext cx="576072" cy="859536"/>
          </a:xfrm>
          <a:prstGeom prst="roundRect">
            <a:avLst/>
          </a:prstGeom>
          <a:solidFill>
            <a:srgbClr val="137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127248"/>
            <a:ext cx="320040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23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81328" y="2916936"/>
            <a:ext cx="9966960" cy="86868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3026664"/>
            <a:ext cx="2157984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ประมวลผลในเครื่อง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5887" y="3017520"/>
            <a:ext cx="5605272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Quantized Local LLM + grammar → JSON ที่ตรวจได้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36608" y="3127248"/>
            <a:ext cx="184708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1300" b="1" lang="th-TH">
                <a:solidFill>
                  <a:srgbClr val="137E9A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อยู่ในแผนทดลอง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" y="4261104"/>
            <a:ext cx="576072" cy="859536"/>
          </a:xfrm>
          <a:prstGeom prst="roundRect">
            <a:avLst/>
          </a:prstGeom>
          <a:solidFill>
            <a:srgbClr val="1D2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471416"/>
            <a:ext cx="320040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23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81328" y="4261104"/>
            <a:ext cx="9966960" cy="86868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91640" y="4370832"/>
            <a:ext cx="2157984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ใช้งานปลายน้ำ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361688"/>
            <a:ext cx="5605272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MQTT / Home Assistant → dashboard; burn rate เมื่อมีข้อมูลการใช้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4471416"/>
            <a:ext cx="1847088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13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อยู่ในแผนต่อยอด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843016"/>
            <a:ext cx="10789920" cy="34747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4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ใบเสร็จบอกการซื้อเข้า; การคำนวณ burn rate ต้องมีข้อมูลคงเหลือหรือการใช้ตามเวลาเพิ่มเติม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ภาพหนึ่งใบจะกลายเป็นข้อมูลอะไร?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ตัวอย่างผลลัพธ์เป้าหมาย ใช้ข้อมูลสมมติ ยังไม่ได้พัฒนาระบบนี้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09928"/>
            <a:ext cx="2514600" cy="3602736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901952"/>
            <a:ext cx="210312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  รับภาพใบเสร็จ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" y="2505456"/>
            <a:ext cx="2039112" cy="2404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2688336"/>
            <a:ext cx="1773936" cy="20208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ร้านตัวอย่าง</a:t>
            </a:r>
          </a:p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18 ต.ค. 2569</a:t>
            </a:r>
          </a:p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</a:p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ข้าว 1 ถุง       100</a:t>
            </a:r>
          </a:p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นม 2 กล่อง      50</a:t>
            </a:r>
          </a:p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รวม 150 บาท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4408" y="3108960"/>
            <a:ext cx="3657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500" b="1" lang="th-TH">
                <a:solidFill>
                  <a:srgbClr val="137E9A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75887" y="1709928"/>
            <a:ext cx="4526280" cy="3602736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58768" y="1901952"/>
            <a:ext cx="411480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2  สกัดเป็นรายการที่ตรวจได้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505456"/>
            <a:ext cx="402336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ร้านตัวอย่าง   วันที่ 2026-10-18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67912" y="3026664"/>
            <a:ext cx="4123944" cy="402336"/>
          </a:xfrm>
          <a:prstGeom prst="rect">
            <a:avLst/>
          </a:prstGeom>
          <a:solidFill>
            <a:srgbClr val="137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7639" y="3108960"/>
            <a:ext cx="109728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4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สินค้า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3108960"/>
            <a:ext cx="9144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4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จำนวน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3108960"/>
            <a:ext cx="77724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4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ต่อหน่วย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3108960"/>
            <a:ext cx="64008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4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รวม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602736"/>
            <a:ext cx="109728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ข้าว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3602736"/>
            <a:ext cx="96012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 ถุง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02736"/>
            <a:ext cx="73152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602736"/>
            <a:ext cx="68580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4087368"/>
            <a:ext cx="109728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นม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4087368"/>
            <a:ext cx="96012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2 กล่อง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087368"/>
            <a:ext cx="73152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4087368"/>
            <a:ext cx="68580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4700016"/>
            <a:ext cx="379476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ยอดรวม 150 THB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108960"/>
            <a:ext cx="3657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500" b="1" lang="th-TH">
                <a:solidFill>
                  <a:srgbClr val="137E9A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50224" y="1709928"/>
            <a:ext cx="2807208" cy="3602736"/>
          </a:xfrm>
          <a:prstGeom prst="roundRect">
            <a:avLst/>
          </a:prstGeom>
          <a:solidFill>
            <a:srgbClr val="E1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42248" y="1901952"/>
            <a:ext cx="242316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3  ตรวจและยืนยัน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87968" y="2624328"/>
            <a:ext cx="2267712" cy="347472"/>
          </a:xfrm>
          <a:prstGeom prst="roundRect">
            <a:avLst/>
          </a:prstGeom>
          <a:solidFill>
            <a:srgbClr val="C05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79408" y="2674620"/>
            <a:ext cx="2084831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3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รอตรวจรายการ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7968" y="3227832"/>
            <a:ext cx="2240280" cy="11430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ผู้ใช้เทียบกับภาพ</a:t>
            </a:r>
          </a:p>
          <a:p>
            <a:pPr algn="l">
              <a:spcAft>
                <a:spcPts val="400"/>
              </a:spcAft>
              <a:defRPr sz="18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แก้รายการที่อ่านผิด</a:t>
            </a:r>
          </a:p>
          <a:p>
            <a:pPr algn="l">
              <a:spcAft>
                <a:spcPts val="400"/>
              </a:spcAft>
              <a:defRPr sz="18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แล้วยืนยันข้อมูล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87968" y="4517136"/>
            <a:ext cx="2240280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 lang="th-TH">
                <a:solidFill>
                  <a:srgbClr val="137E9A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ส่งข้อมูลซื้อเข้า</a:t>
            </a:r>
          </a:p>
          <a:p>
            <a:pPr algn="l">
              <a:spcAft>
                <a:spcPts val="400"/>
              </a:spcAft>
              <a:defRPr sz="1800" b="1" lang="th-TH">
                <a:solidFill>
                  <a:srgbClr val="137E9A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สู่ระบบบ้าน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" y="5577840"/>
            <a:ext cx="10607040" cy="3840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ตารางนี้แสดงข้อมูลที่จะเก็บเป็น JSON และตรวจย้อนกลับถึงภาพต้นฉบับได้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6044184"/>
            <a:ext cx="1060704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3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สถานะยืนยันเป็นขั้นตอนเป้าหมาย; การวิเคราะห์อัตราการใช้ต้องมีข้อมูลคงเหลือเพิ่มเติม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ภาพ 59 ใบถูกใช้ทำอะไรบ้าง?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ตรวจข้อมูลภาพครบชุด แล้วแยกภาพตามความเหมาะสมของการทดลอง YOLO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746504"/>
            <a:ext cx="2999232" cy="8961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800" b="1" lang="th-TH">
                <a:solidFill>
                  <a:srgbClr val="006289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60904"/>
            <a:ext cx="2971800" cy="502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ไฟล์ที่รับ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746504"/>
            <a:ext cx="2999232" cy="8961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800" b="1" lang="th-TH">
                <a:solidFill>
                  <a:srgbClr val="006289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660904"/>
            <a:ext cx="2971800" cy="502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ภาพ SHA-256 ไม่ซ้ำ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7031" y="1746504"/>
            <a:ext cx="2999232" cy="8961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800" b="1" lang="th-TH">
                <a:solidFill>
                  <a:srgbClr val="137E9A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59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7031" y="2660904"/>
            <a:ext cx="2971800" cy="502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ภาพผู้สมัครใบซื้อสินค้า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5840" y="3410712"/>
            <a:ext cx="10213848" cy="0"/>
          </a:xfrm>
          <a:prstGeom prst="line">
            <a:avLst/>
          </a:prstGeom>
          <a:ln w="19050">
            <a:solidFill>
              <a:srgbClr val="D2DD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77240" y="3685032"/>
            <a:ext cx="3456432" cy="133502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840480"/>
            <a:ext cx="731520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3000" b="1" lang="th-TH">
                <a:solidFill>
                  <a:srgbClr val="006289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785615"/>
            <a:ext cx="2340863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ภาพชุดแรก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297680"/>
            <a:ext cx="2331720" cy="4480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38 ฝึก + 10 ตรวจ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3685032"/>
            <a:ext cx="3456432" cy="133502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3840480"/>
            <a:ext cx="731520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3000" b="1" lang="th-TH">
                <a:solidFill>
                  <a:srgbClr val="006289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952" y="3785615"/>
            <a:ext cx="2340863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ภาพฉากใหม่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952" y="4297680"/>
            <a:ext cx="2331720" cy="4480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ทดสอบโมเดลเดิม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64424" y="3685032"/>
            <a:ext cx="3456432" cy="133502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3840480"/>
            <a:ext cx="731520" cy="52120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3000" b="1" lang="th-TH">
                <a:solidFill>
                  <a:srgbClr val="C05C2B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24544" y="3785615"/>
            <a:ext cx="2340863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ภาพกันออก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4544" y="4297680"/>
            <a:ext cx="2331720" cy="4480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หลายเอกสาร/เสี่ยงใกล้ซ้ำ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" y="5413248"/>
            <a:ext cx="10698480" cy="502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ตรวจข้อมูล/ทิศภาพครบ 59 ใบ; คะแนน YOLO หน้าถัดไปมาจากภาพตรวจ 10 + 6 ใบ ไม่ใช่คะแนนทั้ง 59 ใบ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925312"/>
            <a:ext cx="102412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4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59 ภาพยังไม่เท่ากับ 59 ธุรกรรมอิสระ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ตรวจภาพใบซื้อสินค้า 59 ภาพครบชุด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ข้อมูลภาพและทิศตัวหนังสือครบทุกภาพ; การถอดชื่อสินค้ายังมีข้อจำกัด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12</a:t>
            </a:r>
          </a:p>
        </p:txBody>
      </p:sp>
      <p:pic>
        <p:nvPicPr>
          <p:cNvPr id="7" name="Picture 6" descr="eda_itemized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444752"/>
            <a:ext cx="1078992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5166360"/>
            <a:ext cx="10789920" cy="4206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พิมพ์ 41 / เขียนมือ 18  |  แนวตั้ง 38 / แนวนอน 21  |  ความสว่างมัธยฐานทั้งภาพ 173.9/255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5733288"/>
            <a:ext cx="10744200" cy="34747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ตรวจทั้ง 59 ภาพแล้ว: ชื่อสินค้าถอดครบ 12 | ถอดไม่ครบ 45 | ไม่มีบรรทัดชื่อ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ตรวจภาพทั้ง 59 ใบแล้ว ได้ข้อมูลชื่อสินค้าแค่ไหน?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นับเฉพาะชื่อสินค้าบนบรรทัดรายการ; ตรวจด้วยตาครั้งแรกทุกภาพ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1737360"/>
            <a:ext cx="3282696" cy="3054096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993392"/>
            <a:ext cx="2834640" cy="9418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900" b="1" lang="th-TH">
                <a:solidFill>
                  <a:srgbClr val="137E9A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090672"/>
            <a:ext cx="2816352" cy="4663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ถอดชื่อครบ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703320"/>
            <a:ext cx="2798064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ชื่อทุกบรรทัดที่เห็นอ่านได้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3984" y="1737360"/>
            <a:ext cx="3282696" cy="3054096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1993392"/>
            <a:ext cx="2834640" cy="9418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900" b="1" lang="th-TH">
                <a:solidFill>
                  <a:srgbClr val="C05C2B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3090672"/>
            <a:ext cx="2816352" cy="4663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ถอดไม่ครบ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3703320"/>
            <a:ext cx="2798064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28 ภาพอ่านได้บางช่วง; 17 ยังยืนยันไม่ได้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5592" y="1737360"/>
            <a:ext cx="3282696" cy="3054096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1993392"/>
            <a:ext cx="2834640" cy="9418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900" b="1" lang="th-TH">
                <a:solidFill>
                  <a:srgbClr val="006289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3090672"/>
            <a:ext cx="2816352" cy="4663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ไม่มีบรรทัดชื่อ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3703320"/>
            <a:ext cx="2798064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6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ไม่มีข้อความชื่อสินค้าให้ถอด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5074920"/>
            <a:ext cx="10634472" cy="5303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ใน 45 ภาพที่อ่านไม่ครบ มี 28 ภาพที่เก็บช่วงชื่อที่อ่านได้แน่ชัด และ 17 ภาพยังไม่มีช่วงชื่อที่ยืนยันได้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724144"/>
            <a:ext cx="10561320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จึงยังไม่มีสัดส่วนภาษาไทย/อังกฤษที่แทนชื่อสินค้าในทั้ง 59 ภาพ; ยังไม่มีผู้ตรวจคนที่สอง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ผล YOLO: คะแนนนี้มาจากภาพตรวจ 16 ใบ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ใน 59 ภาพ ใช้ 38 ฝึกโมเดล / 10 ตรวจฉากเดิม / 6 ตรวจฉากใหม่ / กันออก 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1700784"/>
            <a:ext cx="5120640" cy="2331720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63640" y="1700784"/>
            <a:ext cx="5120640" cy="2331720"/>
          </a:xfrm>
          <a:prstGeom prst="roundRect">
            <a:avLst/>
          </a:prstGeom>
          <a:solidFill>
            <a:srgbClr val="F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5" y="1947672"/>
            <a:ext cx="4297680" cy="83210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400" b="1" lang="th-TH">
                <a:solidFill>
                  <a:srgbClr val="137E9A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0.928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044952"/>
            <a:ext cx="4407408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1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10 ภาพฉากเดิม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947672"/>
            <a:ext cx="4297680" cy="83210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4400" b="1" lang="th-TH">
                <a:solidFill>
                  <a:srgbClr val="C05C2B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0.237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3044952"/>
            <a:ext cx="4407408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1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6 ภาพฉากใหม่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4315968"/>
            <a:ext cx="1051560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mAP@0.5: คะแนนเฉลี่ยการหากรอบ 0–1; สูงดีกว่า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4965192"/>
            <a:ext cx="10607040" cy="667512"/>
          </a:xfrm>
          <a:prstGeom prst="roundRect">
            <a:avLst/>
          </a:prstGeom>
          <a:solidFill>
            <a:srgbClr val="E8F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5120640"/>
            <a:ext cx="10149840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1" lang="th-TH">
                <a:solidFill>
                  <a:srgbClr val="006289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ลองหมุน 6 ภาพฉากใหม่ให้อ่านตรงด้วยโมเดลเดิม: 0.237 → 0.714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5888736"/>
            <a:ext cx="10515600" cy="3383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4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ผลต่างเกี่ยวกับทิศภาพ แต่ฉากและแสงก็ต่างกัน; ยังสรุปความแม่นยำของทั้ง 59 ภาพไม่ได้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การทดลองบน PC ก่อนมีบอร์ด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แยกผลที่วัดจริงออกจากความสามารถที่จะตรวจในระยะถัดไป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55064"/>
            <a:ext cx="5212080" cy="3502152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08776" y="1655064"/>
            <a:ext cx="5212080" cy="3502152"/>
          </a:xfrm>
          <a:prstGeom prst="roundRect">
            <a:avLst/>
          </a:prstGeom>
          <a:solidFill>
            <a:srgbClr val="E8F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4590288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EasyOCR ไทย / อังกฤษ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05456"/>
            <a:ext cx="4617720" cy="21305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9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ตรวจภาพพิมพ์ 3 ภาพ</a:t>
            </a:r>
          </a:p>
          <a:p>
            <a:pPr algn="l">
              <a:spcAft>
                <a:spcPts val="400"/>
              </a:spcAft>
              <a:defRPr sz="19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วันที่และยอดตรง 4 จาก 6 ช่อง</a:t>
            </a:r>
          </a:p>
          <a:p>
            <a:pPr algn="l">
              <a:spcAft>
                <a:spcPts val="400"/>
              </a:spcAft>
              <a:defRPr sz="19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เป็น spot-check โดยคนหนึ่งรอบ</a:t>
            </a:r>
          </a:p>
          <a:p>
            <a:pPr algn="l">
              <a:spcAft>
                <a:spcPts val="400"/>
              </a:spcAft>
              <a:defRPr sz="19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ยังไม่ใช่ CER หรือผล 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1901952"/>
            <a:ext cx="4608576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RKNN Toolkit2 บน PC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505456"/>
            <a:ext cx="4590288" cy="21305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8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ONNX → RKNN เป้าหมาย RK3588</a:t>
            </a:r>
          </a:p>
          <a:p>
            <a:pPr algn="l">
              <a:spcAft>
                <a:spcPts val="400"/>
              </a:spcAft>
              <a:defRPr sz="18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รัน inference ผ่าน SDK บน PC ได้</a:t>
            </a:r>
          </a:p>
          <a:p>
            <a:pPr algn="l">
              <a:spcAft>
                <a:spcPts val="400"/>
              </a:spcAft>
              <a:defRPr sz="18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ยังไม่ quantize และยังไม่มีค่า</a:t>
            </a:r>
          </a:p>
          <a:p>
            <a:pPr algn="l">
              <a:spcAft>
                <a:spcPts val="400"/>
              </a:spcAft>
              <a:defRPr sz="18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เวลา RAM หรือพลังงานบน NPU จริง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2152" y="5486400"/>
            <a:ext cx="5184648" cy="347472"/>
          </a:xfrm>
          <a:prstGeom prst="roundRect">
            <a:avLst/>
          </a:prstGeom>
          <a:solidFill>
            <a:srgbClr val="C05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5536692"/>
            <a:ext cx="5001768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3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PC-side check ≠ NPU benchmark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เดโมบน PC: จากภาพไปสู่กรอบเอกสาร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ตัวอย่างจริงจากชุดตรวจฉากเดิม แสดงภาพต้นฉบับคู่กับผล YOLOv8n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499616"/>
            <a:ext cx="242316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7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ภาพต้นฉบับ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67912" y="1499616"/>
            <a:ext cx="242316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7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ผลตรวจจับบน PC</a:t>
            </a:r>
          </a:p>
        </p:txBody>
      </p:sp>
      <p:pic>
        <p:nvPicPr>
          <p:cNvPr id="9" name="Picture 8" descr="R4F4EA934251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5" y="1856231"/>
            <a:ext cx="2377440" cy="4215384"/>
          </a:xfrm>
          <a:prstGeom prst="rect">
            <a:avLst/>
          </a:prstGeom>
        </p:spPr>
      </p:pic>
      <p:pic>
        <p:nvPicPr>
          <p:cNvPr id="10" name="Picture 9" descr="demo_receipt_detec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856231"/>
            <a:ext cx="2377440" cy="421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65576" y="3657600"/>
            <a:ext cx="338328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2500" b="1" lang="th-TH">
                <a:solidFill>
                  <a:srgbClr val="137E9A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48272" y="1856231"/>
            <a:ext cx="4636008" cy="4215384"/>
          </a:xfrm>
          <a:prstGeom prst="roundRect">
            <a:avLst/>
          </a:prstGeom>
          <a:solidFill>
            <a:srgbClr val="F2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2121408"/>
            <a:ext cx="4069080" cy="4389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สิ่งที่สาธิต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761488"/>
            <a:ext cx="3904487" cy="21488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โมเดลจากการฝึก 38 ภาพบน PC CPU</a:t>
            </a:r>
          </a:p>
          <a:p>
            <a:pPr algn="l">
              <a:spcAft>
                <a:spcPts val="400"/>
              </a:spcAft>
              <a:defRPr sz="17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ภาพนี้อยู่ในชุดตรวจฉากเดิม 10 ภาพ</a:t>
            </a:r>
          </a:p>
          <a:p>
            <a:pPr algn="l">
              <a:spcAft>
                <a:spcPts val="400"/>
              </a:spcAft>
              <a:defRPr sz="17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แสดง 1 กรอบที่ confidence 0.981</a:t>
            </a:r>
          </a:p>
          <a:p>
            <a:pPr algn="l">
              <a:spcAft>
                <a:spcPts val="400"/>
              </a:spcAft>
              <a:defRPr sz="17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ตั้งเกณฑ์แสดงผล confidence ≥ 0.80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5276088"/>
            <a:ext cx="4005072" cy="58521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1" lang="th-TH">
                <a:solidFill>
                  <a:srgbClr val="C05C2B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ภาพตัวอย่างหนึ่งภาพ ไม่ใช่ผลทดสอบข้ามฉากหรือผลบน NPU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งานถัดไปจากผลนำร่อง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ลำดับงานรักษาทิศทางของโครงงานทั้งระบบ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D3D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545336"/>
            <a:ext cx="530352" cy="53035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636776"/>
            <a:ext cx="23774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6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1536192"/>
            <a:ext cx="22402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แก้ชุดข้อมูล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22191" y="1527048"/>
            <a:ext cx="73152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ตรวจ label / ธุรกรรมซ้ำ และทำเฉลย OCR–JSON สองรอบ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530352" cy="53035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606040"/>
            <a:ext cx="23774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6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2505456"/>
            <a:ext cx="22402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วัดแต่ละชั้น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2191" y="2496312"/>
            <a:ext cx="73152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เพิ่มฉากใหม่ เปรียบเทียบ OCR และทดสอบ LLM / JSON บน PC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3483864"/>
            <a:ext cx="530352" cy="53035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575304"/>
            <a:ext cx="23774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6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9344" y="3474720"/>
            <a:ext cx="22402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ตรวจการส่งออก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2191" y="3465576"/>
            <a:ext cx="73152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ทดสอบ quantization และ PC-side SDK โดยเก็บเวอร์ชันกับผล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453128"/>
            <a:ext cx="530352" cy="530352"/>
          </a:xfrm>
          <a:prstGeom prst="roundRect">
            <a:avLst/>
          </a:prstGeom>
          <a:solidFill>
            <a:srgbClr val="006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4544568"/>
            <a:ext cx="237744" cy="2468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400"/>
              </a:spcAft>
              <a:defRPr sz="16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9344" y="4443984"/>
            <a:ext cx="22402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000" b="1" lang="th-TH">
                <a:solidFill>
                  <a:srgbClr val="1D2A5D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ต่อระบบและฮาร์ดแวร์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22191" y="4434840"/>
            <a:ext cx="73152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700" b="0" lang="th-TH">
                <a:solidFill>
                  <a:srgbClr val="1D2F3E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ทดสอบ MQTT ด้วยข้อมูลที่ตรวจแล้ว; ย้ายขึ้นบอร์ดเมื่อพร้อม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5632704"/>
            <a:ext cx="10515600" cy="4480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576975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อุปกรณ์เป้าหมายในระยะขอยืม: RK3588; จะวัด NPU จริงหลังได้รับบอร์ดและยืนยัน SDK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A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84048"/>
            <a:ext cx="1097280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8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สรุปความก้าวหน้า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8813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15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จากการทบทวนวรรณกรรมสู่หลักฐานทดลองนำร่อง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6437376"/>
            <a:ext cx="10927080" cy="0"/>
          </a:xfrm>
          <a:prstGeom prst="line">
            <a:avLst/>
          </a:prstGeom>
          <a:ln w="127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0"/>
            <a:ext cx="91440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9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โครงงานคอมพิวเตอร์ | รายงานความก้าวหน้า | 18 ต.ค.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92240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400"/>
              </a:spcAft>
              <a:defRPr sz="9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874519"/>
            <a:ext cx="10424160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4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กรอบระบบ e-Senses และ pipeline สามชั้นยังเป็นเป้าหมายหลักของโครงงาน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916936"/>
            <a:ext cx="10369296" cy="1508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2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วันนี้มีภาพจริง 59 ภาพผู้สมัคร และผล YOLO บน PC ที่ต่างกันระหว่างสองชุดภาพ</a:t>
            </a:r>
          </a:p>
          <a:p>
            <a:pPr algn="l">
              <a:spcAft>
                <a:spcPts val="400"/>
              </a:spcAft>
              <a:defRPr sz="2200" b="0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จึงมีข้อมูลใช้วางการทดลอง OCR, JSON/LLM และฮาร์ดแวร์ขั้นถัดไป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96112" y="5047488"/>
            <a:ext cx="3803904" cy="0"/>
          </a:xfrm>
          <a:prstGeom prst="line">
            <a:avLst/>
          </a:prstGeom>
          <a:ln w="25400">
            <a:solidFill>
              <a:srgbClr val="137E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05256" y="5340096"/>
            <a:ext cx="987552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spcAft>
                <a:spcPts val="400"/>
              </a:spcAft>
              <a:defRPr sz="2400" b="1" lang="th-TH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lang="th-TH">
                <a:latin typeface="Tahoma"/>
                <a:ea typeface="Tahoma"/>
                <a:cs typeface="Tahoma"/>
              </a:rPr>
              <a:t>ขอบคุณครับ  |  คำถามและข้อเสนอแนะ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ความก้าวหน้าโครงงานระบบประสาทส่วนกลางอัจฉริยะในที่พักอาศัย</dc:title>
  <dc:subject>การนำเสนอความก้าวหน้าโครงงานคอมพิวเตอร์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