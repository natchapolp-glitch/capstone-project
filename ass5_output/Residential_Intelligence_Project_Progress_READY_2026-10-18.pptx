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92640" y="0"/>
            <a:ext cx="2496312" cy="2834640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15000"/>
            <a:ext cx="2011680" cy="1143000"/>
          </a:xfrm>
          <a:prstGeom prst="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530352"/>
            <a:ext cx="1069848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FFFFFF"/>
                </a:solidFill>
                <a:latin typeface="Tahoma"/>
              </a:defRPr>
            </a:pPr>
            <a:r>
              <a:t>การนำเสนอความก้าวหน้าโครงงานคอมพิวเตอร์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325880"/>
            <a:ext cx="10789920" cy="2057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การพัฒนาระบบประสาทส่วนกลางอัจฉริยะในที่พักอาศัย</a:t>
            </a:r>
          </a:p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เพื่อสกัดและวิเคราะห์ข้อมูลห่วงโซ่อุปทานในครัวเรือน</a:t>
            </a:r>
          </a:p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ด้วยปัญญาประดิษฐ์ประมวลผลเฉพาะถิ่น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794760"/>
            <a:ext cx="4709160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087368"/>
            <a:ext cx="6492240" cy="8686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Tahoma"/>
              </a:defRPr>
            </a:pPr>
            <a:r>
              <a:t>673380267-4 นายณัชพล เพ็งพล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Tahoma"/>
              </a:defRPr>
            </a:pPr>
            <a:r>
              <a:t>673380270-5 นายธนบดี เริ่มรักสกุล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7498079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FFFFFF"/>
                </a:solidFill>
                <a:latin typeface="Tahoma"/>
              </a:defRPr>
            </a:pPr>
            <a:r>
              <a:t>อาจารย์ที่ปรึกษา ผศ.บุญทรัพย์ ไวคำ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596128"/>
            <a:ext cx="758952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FFFFFF"/>
                </a:solidFill>
                <a:latin typeface="Tahoma"/>
              </a:defRPr>
            </a:pPr>
            <a:r>
              <a:t>หมายเลขโครงงาน SCS3-4  |  กลุ่มสอบ SCS3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181344"/>
            <a:ext cx="91440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FFFFFF"/>
                </a:solidFill>
                <a:latin typeface="Tahoma"/>
              </a:defRPr>
            </a:pPr>
            <a:r>
              <a:t>สาขาวิชาวิทยาการคอมพิวเตอร์ มหาวิทยาลัยขอนแก่น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ที่มา: ทำไมจึงออกแบบให้ประมวลผลในบ้าน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ความเป็นส่วนตัว เวลา และต้นทุน เป็นเป้าหมายการออกแบบที่ยังต้องวัดกับระบบจริง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ความเป็นส่วนตัว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ใบซื้อสินค้ามีข้อมูลส่วนบุคคล จึงต้องกำกับการเก็บและส่งต่อ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เวลาและต้นทุน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ตั้งเป้าลดการพึ่งพา Cloud API แต่ยังไม่ได้เปรียบเทียบจริง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ข้อมูลและทรัพยากร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ภาพต่างร้าน ภาษา และแสง ต้องประมวลผลบนเครื่องจำกัด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5074920"/>
            <a:ext cx="10789920" cy="6949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1D2A5D"/>
                </a:solidFill>
                <a:latin typeface="Tahoma"/>
              </a:defRPr>
            </a:pPr>
            <a:r>
              <a:t>แนวทางเดิมยังอยู่: รับภาพ → YOLO/OCR → Local LLM/JSON → MQTT/Home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ภาพรวมระบบประสาทสัมผัสดิจิทัลในบ้าน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e-Senses เป็นกรอบระบบ ส่วนผลทดลองปัจจุบันเจาะลึกที่ e-Eye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5615" y="1554480"/>
            <a:ext cx="4617720" cy="667512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1719072"/>
            <a:ext cx="4389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Tahoma"/>
              </a:defRPr>
            </a:pPr>
            <a:r>
              <a:t>Home Digital Nervous System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9904" y="2221992"/>
            <a:ext cx="0" cy="32004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41448" y="2542032"/>
            <a:ext cx="7306056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41448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47504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8368" y="2788920"/>
            <a:ext cx="3566160" cy="1609344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e-Eye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Tahoma"/>
              </a:defRPr>
            </a:pPr>
            <a:r>
              <a:t>ภาพใบซื้อสินค้า / เอกสาร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Tahoma"/>
              </a:defRPr>
            </a:pPr>
            <a:r>
              <a:t>ทดลองนำร่อง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788920"/>
            <a:ext cx="3566160" cy="1609344"/>
          </a:xfrm>
          <a:prstGeom prst="roundRect">
            <a:avLst/>
          </a:prstGeom>
          <a:solidFill>
            <a:srgbClr val="6C8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e-Nose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Tahoma"/>
              </a:defRPr>
            </a:pPr>
            <a:r>
              <a:t>ก๊าซ / VOC / กลิ่น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Tahoma"/>
              </a:defRPr>
            </a:pPr>
            <a:r>
              <a:t>แนวคิดต่อยอด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788920"/>
            <a:ext cx="3566160" cy="1609344"/>
          </a:xfrm>
          <a:prstGeom prst="roundRect">
            <a:avLst/>
          </a:prstGeom>
          <a:solidFill>
            <a:srgbClr val="6C8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e-Skin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FFFFFF"/>
                </a:solidFill>
                <a:latin typeface="Tahoma"/>
              </a:defRPr>
            </a:pPr>
            <a:r>
              <a:t>น้ำหนัก / แรงสัมผัส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  <a:latin typeface="Tahoma"/>
              </a:defRPr>
            </a:pPr>
            <a:r>
              <a:t>แนวคิดต่อยอด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83480"/>
            <a:ext cx="10881360" cy="7863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การศึกษาระยะนี้ใช้ e-Eye เป็นจุดเริ่มต้นของระบบรวม ไม่ได้เปลี่ยนชื่อหรือขอบเขตแนวคิดของทั้งโครงงาน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วัตถุประสงค์และขอบเขต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แยกเป้าหมายของโครงงานออกจากสิ่งที่ทดลองแล้ว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591056"/>
            <a:ext cx="5440680" cy="41148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4496" y="1591056"/>
            <a:ext cx="5257800" cy="4114800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3"/>
            <a:ext cx="4910328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เป้าหมายของโครงงาน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828032" cy="2971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1  ออกแบบสถาปัตยกรรม e-Senses และ pipeline ในบ้าน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2  สกัดข้อมูลใบซื้อสินค้าเป็น JSON ที่ตรวจสอบได้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3  ประเมินความแม่นยำ เวลา และทรัพยากรบน PC ก่อนย้ายสู่อุปกรณ์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4  ส่งต่อข้อมูลสู่ระบบบ้านอัจฉริยะและวิเคราะห์การใช้เมื่อมีข้อมูลเพียงพอ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37943"/>
            <a:ext cx="4709160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6289"/>
                </a:solidFill>
                <a:latin typeface="Tahoma"/>
              </a:defRPr>
            </a:pPr>
            <a:r>
              <a:t>ขอบเขตผลที่มีแล้ว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423160"/>
            <a:ext cx="4617720" cy="22402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ภาพจริงและ EDA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YOLOv8n ตรวจกรอบเอกสารบน PC CPU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OCR spot-check 3 ภาพ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แปลง ONNX เป็น RKNN และรันผ่าน SDK บน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1384" y="4882896"/>
            <a:ext cx="4462272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4933188"/>
            <a:ext cx="4279392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ยังไม่มีผล NPU จริงหรือ JSON/LLM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ฐานวิชาการ: คัดกรองวรรณกรรมก่อนออกแบบ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รายงานทบทวนวรรณกรรม 32 หน้าเป็นฐานของสถาปัตยกรรมและคำถามวิจัย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5" y="1691640"/>
            <a:ext cx="9966960" cy="6217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3875" y="1792224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2828" y="1847088"/>
            <a:ext cx="88331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ค้นพบและติดแท็ก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33956" y="2542032"/>
            <a:ext cx="8321040" cy="621792"/>
          </a:xfrm>
          <a:prstGeom prst="round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6836" y="2642616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5788" y="2697480"/>
            <a:ext cx="7187183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สถานะ Scopus เบื้องต้น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1196" y="3392424"/>
            <a:ext cx="6766560" cy="621792"/>
          </a:xfrm>
          <a:prstGeom prst="roundRect">
            <a:avLst/>
          </a:prstGeom>
          <a:solidFill>
            <a:srgbClr val="268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4076" y="3493008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3028" y="3547872"/>
            <a:ext cx="56327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คงไว้หลังตรวจซ้ำ (มีข้อสงวน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4156" y="4242816"/>
            <a:ext cx="5120640" cy="621792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7036" y="4343400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988" y="4398264"/>
            <a:ext cx="3986783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Tahoma"/>
              </a:defRPr>
            </a:pPr>
            <a:r>
              <a:t>ใช้สังเคราะห์ในรายงาน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76672"/>
            <a:ext cx="10607040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576975"/>
                </a:solidFill>
                <a:latin typeface="Tahoma"/>
              </a:defRPr>
            </a:pPr>
            <a:r>
              <a:t>บทความ 12 ฉบับรวม P5 ที่ใช้สนับสนุนข้ามศาสตร์; อีก 11 ฉบับอยู่ในกรอบสามมิติ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3 มิติของกรอบ Performance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ข้อสรุปจากงานทบทวน ใช้กำหนดตัวแปรและตัววัดของการทดลอง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Quantization /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Husom และ Giedra ชี้ให้วัดความถูกต้องคู่กับเวลา RAM และพลังงาน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137E9A"/>
                </a:solidFill>
                <a:latin typeface="Tahoma"/>
              </a:defRPr>
            </a:pPr>
            <a:r>
              <a:t>P1–P4, P6, P10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7136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Structured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SGLang เป็นฐานคิดเรื่อง grammar; ต้องตรวจทั้ง schema และค่าจากใบเสร็จ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137E9A"/>
                </a:solidFill>
                <a:latin typeface="Tahoma"/>
              </a:defRPr>
            </a:pPr>
            <a:r>
              <a:t>P8–P9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9327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7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Smart Home / IoT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ESP32/MQTT และอนุกรมเวลาเป็นฐานชั้นปลายน้ำเมื่อมีข้อมูลเพียงพอ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137E9A"/>
                </a:solidFill>
                <a:latin typeface="Tahoma"/>
              </a:defRPr>
            </a:pPr>
            <a:r>
              <a:t>P7, P11–P12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106984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ขอบเขตของข้อค้นพบ: เป็นผลการสังเคราะห์ภายในชุดบทความที่คัด ไม่ใช่การพิสูจน์ว่าทั่วโลกไม่มีงานอื่น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79592"/>
            <a:ext cx="107442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576975"/>
                </a:solidFill>
                <a:latin typeface="Tahoma"/>
              </a:defRPr>
            </a:pPr>
            <a:r>
              <a:t>ที่มา: Husom et al. (2025), Giedra et al. (2026), Zheng et al. (2024), Sawalha &amp; Al-Naymat (2025), Serepas et al. (2025)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จุดร่วมและความต่างของงานที่ทบทวน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ผลต่างด้านเครื่องและโจทย์ทำให้ย้ายตัวเลขจากบทความมาอ้างกับระบบบ้านไม่ได้ตรง 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27632"/>
            <a:ext cx="5175504" cy="3520440"/>
          </a:xfrm>
          <a:prstGeom prst="roundRect">
            <a:avLst/>
          </a:prstGeom>
          <a:solidFill>
            <a:srgbClr val="E1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1627632"/>
            <a:ext cx="5175504" cy="3520440"/>
          </a:xfrm>
          <a:prstGeom prst="roundRect">
            <a:avLst/>
          </a:prstGeom>
          <a:solidFill>
            <a:srgbClr val="FA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901952"/>
            <a:ext cx="466344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แนวโน้มร่วม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569464"/>
            <a:ext cx="4572000" cy="1965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ใช้การบีบอัดเพื่อลดภาระทรัพยากร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ให้ความสำคัญกับการประมวลผลใกล้ข้อมูล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ออกแบบชั้นเชื่อม IoT ให้ใช้ทรัพยากรต่ำ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901952"/>
            <a:ext cx="457200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ความต่างที่มีผลต่อการนำมาใช้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569464"/>
            <a:ext cx="4553712" cy="1984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อุปกรณ์ตั้งแต่ SBC ถึง GPU ระดับศูนย์ข้อมูล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บางระบบเป็น hybrid บางระบบอยู่ในเครื่อง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โจทย์และตัววัดไม่ตรงกับใบซื้อสินค้าไทย/อังกฤษ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55217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จึงต้องทดสอบกับข้อมูลและ pipeline ของโครงงานเอง โดยรายงานผล PC และ NPU แยกกัน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ช่องว่างที่โครงงานจะศึกษา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FFFFFF"/>
                </a:solidFill>
                <a:latin typeface="Tahoma"/>
              </a:defRPr>
            </a:pPr>
            <a:r>
              <a:t>งานที่ทบทวนมักรายงานผลของแต่ละชั้นแยกกัน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>
                <a:solidFill>
                  <a:srgbClr val="FFFFFF"/>
                </a:solidFill>
                <a:latin typeface="Tahoma"/>
              </a:defRPr>
            </a:pPr>
            <a:r>
              <a:t>โมเดล / ฮาร์ดแวร์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>
                <a:solidFill>
                  <a:srgbClr val="FFFFFF"/>
                </a:solidFill>
                <a:latin typeface="Tahoma"/>
              </a:defRPr>
            </a:pPr>
            <a:r>
              <a:t>JSON / ความถูกต้อง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216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>
                <a:solidFill>
                  <a:srgbClr val="FFFFFF"/>
                </a:solidFill>
                <a:latin typeface="Tahoma"/>
              </a:defRPr>
            </a:pPr>
            <a:r>
              <a:t>ระบบบ้าน / ปลายน้ำ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685032"/>
            <a:ext cx="182880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FFD37B"/>
                </a:solidFill>
                <a:latin typeface="Tahoma"/>
              </a:defRPr>
            </a:pPr>
            <a:r>
              <a:t>คำถามวิจัย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9663"/>
            <a:ext cx="10469880" cy="9601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500" b="1">
                <a:solidFill>
                  <a:srgbClr val="FFFFFF"/>
                </a:solidFill>
                <a:latin typeface="Tahoma"/>
              </a:defRPr>
            </a:pPr>
            <a:r>
              <a:t>เมื่อนำขั้นตอนเหล่านี้มาต่อกันบนทรัพยากรจำกัด</a:t>
            </a:r>
          </a:p>
          <a:p>
            <a:pPr algn="l">
              <a:spcAft>
                <a:spcPts val="400"/>
              </a:spcAft>
              <a:defRPr sz="2500" b="1">
                <a:solidFill>
                  <a:srgbClr val="FFFFFF"/>
                </a:solidFill>
                <a:latin typeface="Tahoma"/>
              </a:defRPr>
            </a:pPr>
            <a:r>
              <a:t>ความผิดพลาดของข้อมูลกับต้นทุนประมวลผลเปลี่ยนอย่างไร?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50992"/>
            <a:ext cx="1051560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FFFFFF"/>
                </a:solidFill>
                <a:latin typeface="Tahoma"/>
              </a:defRPr>
            </a:pPr>
            <a:r>
              <a:t>ผลนำร่อง e-Eye เป็นหลักฐานแรกของคำถามนี้ ยังไม่ใช่ผลครบทั้งระบบ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สถาปัตยกรรมเชิงแนวคิดของโครงงาน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ภาพรวมสามชั้นจากรายงานทบทวนวรรณกรรม พร้อมสถานะปัจจุบัน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572768"/>
            <a:ext cx="576072" cy="859536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81328" y="1572768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5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รับรู้และสกัด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1673352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ภาพถ่ายก่อน; IP Camera ตามแผน → YOLO → 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6608" y="1783080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>
                <a:solidFill>
                  <a:srgbClr val="006289"/>
                </a:solidFill>
                <a:latin typeface="Tahoma"/>
              </a:defRPr>
            </a:pPr>
            <a:r>
              <a:t>มีผลนำร่องบน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2916936"/>
            <a:ext cx="576072" cy="859536"/>
          </a:xfrm>
          <a:prstGeom prst="round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27248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1328" y="2916936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026664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ประมวลผลในเครื่อง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017520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Quantized Local LLM + grammar → JSON ที่ตรวจได้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3127248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>
                <a:solidFill>
                  <a:srgbClr val="137E9A"/>
                </a:solidFill>
                <a:latin typeface="Tahoma"/>
              </a:defRPr>
            </a:pPr>
            <a:r>
              <a:t>อยู่ในแผนทดลอง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261104"/>
            <a:ext cx="576072" cy="859536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71416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>
                <a:solidFill>
                  <a:srgbClr val="FFFFFF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81328" y="4261104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370832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ใช้งานปลายน้ำ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361688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MQTT / Home Assistant → dashboard; burn rate เมื่อมีข้อมูลการใช้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4471416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>
                <a:solidFill>
                  <a:srgbClr val="1D2A5D"/>
                </a:solidFill>
                <a:latin typeface="Tahoma"/>
              </a:defRPr>
            </a:pPr>
            <a:r>
              <a:t>อยู่ในแผนต่อยอด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843016"/>
            <a:ext cx="1078992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ใบเสร็จบอกการซื้อเข้า; การคำนวณ burn rate ต้องมีข้อมูลคงเหลือหรือการใช้ตามเวลาเพิ่มเติม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จากฐานวิชาการสู่ผลทดลอง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กรอบวรรณกรรม สถาปัตยกรรม และแผนเดิม นำมาสู่การทดลองนำร่องที่ตรวจได้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716768" cy="9875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1856231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งานวิจัย 3 มิติ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46504"/>
            <a:ext cx="388620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ฐานคิด: quantization / JSON /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746504"/>
            <a:ext cx="416052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6289"/>
                </a:solidFill>
                <a:latin typeface="Tahoma"/>
              </a:defRPr>
            </a:pPr>
            <a:r>
              <a:t>นำมาใช้: ตัวแปรและตัววัดการทดลอง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16768" cy="9875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99232"/>
            <a:ext cx="1856231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สถาปัตยกรรม 3 ชั้น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999232"/>
            <a:ext cx="388620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ฐานคิด: กล้อง–YOLO–OCR–LLM–MQTT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999232"/>
            <a:ext cx="416052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6289"/>
                </a:solidFill>
                <a:latin typeface="Tahoma"/>
              </a:defRPr>
            </a:pPr>
            <a:r>
              <a:t>นำมาใช้: e-Senses โดยเริ่มทดลอง e-Eye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05656"/>
            <a:ext cx="10716768" cy="9875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1856231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แผนดำเนินงาน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51960"/>
            <a:ext cx="388620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ฐานคิด: ต้นแบบ → LLM → IoT →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251960"/>
            <a:ext cx="4160520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6289"/>
                </a:solidFill>
                <a:latin typeface="Tahoma"/>
              </a:defRPr>
            </a:pPr>
            <a:r>
              <a:t>ผลวันนี้: ภาพจริงและ YOLO/OCR บน 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632704"/>
            <a:ext cx="10607040" cy="4297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C05C2B"/>
                </a:solidFill>
                <a:latin typeface="Tahoma"/>
              </a:defRPr>
            </a:pPr>
            <a:r>
              <a:t>ผลจาก PC ยังไม่ใช่ผล NPU หรือผลครบทั้งระบบ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ภาพ 59 ใบถูกใช้ทำอะไรบ้าง?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ตรวจข้อมูลภาพครบชุด แล้วแยกภาพตามความเหมาะสมของการทดลอง YOLO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006289"/>
                </a:solidFill>
                <a:latin typeface="Tahoma"/>
              </a:defRPr>
            </a:pPr>
            <a:r>
              <a:t>124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F3E"/>
                </a:solidFill>
                <a:latin typeface="Tahoma"/>
              </a:defRPr>
            </a:pPr>
            <a:r>
              <a:t>ไฟล์ที่รับ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006289"/>
                </a:solidFill>
                <a:latin typeface="Tahoma"/>
              </a:defRPr>
            </a:pPr>
            <a: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F3E"/>
                </a:solidFill>
                <a:latin typeface="Tahoma"/>
              </a:defRPr>
            </a:pPr>
            <a:r>
              <a:t>ภาพ SHA-256 ไม่ซ้ำ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137E9A"/>
                </a:solidFill>
                <a:latin typeface="Tahoma"/>
              </a:defRPr>
            </a:pPr>
            <a:r>
              <a:t>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F3E"/>
                </a:solidFill>
                <a:latin typeface="Tahoma"/>
              </a:defRPr>
            </a:pPr>
            <a:r>
              <a:t>ภาพผู้สมัครใบซื้อสินค้า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3410712"/>
            <a:ext cx="10213848" cy="0"/>
          </a:xfrm>
          <a:prstGeom prst="line">
            <a:avLst/>
          </a:prstGeom>
          <a:ln w="19050">
            <a:solidFill>
              <a:srgbClr val="D2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006289"/>
                </a:solidFill>
                <a:latin typeface="Tahoma"/>
              </a:defRPr>
            </a:pPr>
            <a:r>
              <a:t>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ภาพชุดแรก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F3E"/>
                </a:solidFill>
                <a:latin typeface="Tahoma"/>
              </a:defRPr>
            </a:pPr>
            <a:r>
              <a:t>38 ฝึก + 10 ตรวจ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006289"/>
                </a:solidFill>
                <a:latin typeface="Tahoma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ภาพฉากใหม่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F3E"/>
                </a:solidFill>
                <a:latin typeface="Tahoma"/>
              </a:defRPr>
            </a:pPr>
            <a:r>
              <a:t>ทดสอบโมเดลเดิม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64424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C05C2B"/>
                </a:solidFill>
                <a:latin typeface="Tahoma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1D2A5D"/>
                </a:solidFill>
                <a:latin typeface="Tahoma"/>
              </a:defRPr>
            </a:pPr>
            <a:r>
              <a:t>ภาพกันออก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F3E"/>
                </a:solidFill>
                <a:latin typeface="Tahoma"/>
              </a:defRPr>
            </a:pPr>
            <a:r>
              <a:t>หลายเอกสาร/เสี่ยงใกล้ซ้ำ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413248"/>
            <a:ext cx="1069848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ตรวจข้อมูล/ทิศภาพครบ 59 ใบ; คะแนน YOLO หน้าถัดไปมาจากภาพตรวจ 10 + 6 ใบ ไม่ใช่คะแนนทั้ง 59 ใบ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2412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59 ภาพยังไม่เท่ากับ 59 ธุรกรรมอิสระ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ตรวจภาพใบซื้อสินค้า 59 ภาพครบชุด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ข้อมูลภาพและทิศตัวหนังสือครบทุกภาพ; การถอดชื่อสินค้ายังมีข้อจำกัด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12</a:t>
            </a:r>
          </a:p>
        </p:txBody>
      </p:sp>
      <p:pic>
        <p:nvPicPr>
          <p:cNvPr id="7" name="Picture 6" descr="eda_itemized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444752"/>
            <a:ext cx="1078992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66360"/>
            <a:ext cx="10789920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A5D"/>
                </a:solidFill>
                <a:latin typeface="Tahoma"/>
              </a:defRPr>
            </a:pPr>
            <a:r>
              <a:t>พิมพ์ 41 / เขียนมือ 18  |  แนวตั้ง 38 / แนวนอน 21  |  ความสว่างมัธยฐานทั้งภาพ 173.9/255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5733288"/>
            <a:ext cx="1074420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D2A5D"/>
                </a:solidFill>
                <a:latin typeface="Tahoma"/>
              </a:defRPr>
            </a:pPr>
            <a:r>
              <a:t>ตรวจทั้ง 59 ภาพแล้ว: ชื่อสินค้าถอดครบ 12 | ถอดไม่ครบ 45 | ไม่มีบรรทัดชื่อ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ตรวจภาพทั้ง 59 ใบแล้ว ได้ข้อมูลชื่อสินค้าแค่ไหน?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นับเฉพาะชื่อสินค้าบนบรรทัดรายการ; ตรวจด้วยตาครั้งแรกทุกภาพ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>
                <a:solidFill>
                  <a:srgbClr val="137E9A"/>
                </a:solidFill>
                <a:latin typeface="Tahoma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ถอดชื่อครบ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ชื่อทุกบรรทัดที่เห็นอ่านได้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>
                <a:solidFill>
                  <a:srgbClr val="C05C2B"/>
                </a:solidFill>
                <a:latin typeface="Tahoma"/>
              </a:defRPr>
            </a:pPr>
            <a: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ถอดไม่ครบ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28 ภาพอ่านได้บางช่วง; 17 ยังยืนยันไม่ได้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>
                <a:solidFill>
                  <a:srgbClr val="006289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ไม่มีบรรทัดชื่อ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F3E"/>
                </a:solidFill>
                <a:latin typeface="Tahoma"/>
              </a:defRPr>
            </a:pPr>
            <a:r>
              <a:t>ไม่มีข้อความชื่อสินค้าให้ถอด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074920"/>
            <a:ext cx="10634472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ใน 45 ภาพที่อ่านไม่ครบ มี 28 ภาพที่เก็บช่วงชื่อที่อ่านได้แน่ชัด และ 17 ภาพยังไม่มีช่วงชื่อที่ยืนยันได้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724144"/>
            <a:ext cx="10561320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จึงยังไม่มีสัดส่วนภาษาไทย/อังกฤษที่แทนชื่อสินค้าในทั้ง 59 ภาพ; ยังไม่มีผู้ตรวจคนที่สอง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ผล YOLO: คะแนนนี้มาจากภาพตรวจ 16 ใบ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ใน 59 ภาพ ใช้ 38 ฝึกโมเดล / 10 ตรวจฉากเดิม / 6 ตรวจฉากใหม่ / กันออก 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700784"/>
            <a:ext cx="5120640" cy="233172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700784"/>
            <a:ext cx="5120640" cy="2331720"/>
          </a:xfrm>
          <a:prstGeom prst="roundRect">
            <a:avLst/>
          </a:prstGeom>
          <a:solidFill>
            <a:srgbClr val="F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5" y="1947672"/>
            <a:ext cx="4297680" cy="8321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137E9A"/>
                </a:solidFill>
                <a:latin typeface="Tahoma"/>
              </a:defRPr>
            </a:pPr>
            <a:r>
              <a:t>0.928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44952"/>
            <a:ext cx="4407408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1D2A5D"/>
                </a:solidFill>
                <a:latin typeface="Tahoma"/>
              </a:defRPr>
            </a:pPr>
            <a:r>
              <a:t>10 ภาพฉากเดิม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47672"/>
            <a:ext cx="4297680" cy="8321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C05C2B"/>
                </a:solidFill>
                <a:latin typeface="Tahoma"/>
              </a:defRPr>
            </a:pPr>
            <a:r>
              <a:t>0.237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3044952"/>
            <a:ext cx="4407408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1D2A5D"/>
                </a:solidFill>
                <a:latin typeface="Tahoma"/>
              </a:defRPr>
            </a:pPr>
            <a:r>
              <a:t>6 ภาพฉากใหม่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15968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mAP@0.5: คะแนนเฉลี่ยการหากรอบ 0–1; สูงดีกว่า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4965192"/>
            <a:ext cx="10607040" cy="667512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120640"/>
            <a:ext cx="1014984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6289"/>
                </a:solidFill>
                <a:latin typeface="Tahoma"/>
              </a:defRPr>
            </a:pPr>
            <a:r>
              <a:t>ลองหมุน 6 ภาพฉากใหม่ให้อ่านตรงด้วยโมเดลเดิม: 0.237 → 0.714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888736"/>
            <a:ext cx="1051560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76975"/>
                </a:solidFill>
                <a:latin typeface="Tahoma"/>
              </a:defRPr>
            </a:pPr>
            <a:r>
              <a:t>ผลต่างเกี่ยวกับทิศภาพ แต่ฉากและแสงก็ต่างกัน; ยังสรุปความแม่นยำของทั้ง 59 ภาพไม่ได้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การทดลองบน PC ก่อนมีบอร์ด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แยกผลที่วัดจริงออกจากความสามารถที่จะตรวจในระยะถัดไป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55064"/>
            <a:ext cx="5212080" cy="35021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1655064"/>
            <a:ext cx="5212080" cy="3502152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4590288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EasyOCR ไทย / อังกฤษ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4617720" cy="21305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ตรวจภาพพิมพ์ 3 ภาพ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วันที่และยอดตรง 4 จาก 6 ช่อง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เป็น spot-check โดยคนหนึ่งรอบ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1D2F3E"/>
                </a:solidFill>
                <a:latin typeface="Tahoma"/>
              </a:defRPr>
            </a:pPr>
            <a:r>
              <a:t>ยังไม่ใช่ CER หรือผล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1901952"/>
            <a:ext cx="4608576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RKNN Toolkit2 บน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05456"/>
            <a:ext cx="4590288" cy="21305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ONNX → RKNN เป้าหมาย RK3588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รัน inference ผ่าน SDK บน PC ได้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ยังไม่ quantize และยังไม่มีค่า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D2F3E"/>
                </a:solidFill>
                <a:latin typeface="Tahoma"/>
              </a:defRPr>
            </a:pPr>
            <a:r>
              <a:t>เวลา RAM หรือพลังงานบน NPU จริง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5486400"/>
            <a:ext cx="5184648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5536692"/>
            <a:ext cx="5001768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Tahoma"/>
              </a:defRPr>
            </a:pPr>
            <a:r>
              <a:t>PC-side check ≠ NPU benchmark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เดโมบน PC: จากภาพไปสู่กรอบเอกสาร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ตัวอย่างจริงจากชุดตรวจฉากเดิม แสดงภาพต้นฉบับคู่กับผล YOLOv8n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499616"/>
            <a:ext cx="242316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ภาพต้นฉบับ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7912" y="1499616"/>
            <a:ext cx="242316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700" b="1">
                <a:solidFill>
                  <a:srgbClr val="1D2A5D"/>
                </a:solidFill>
                <a:latin typeface="Tahoma"/>
              </a:defRPr>
            </a:pPr>
            <a:r>
              <a:t>ผลตรวจจับบน PC</a:t>
            </a:r>
          </a:p>
        </p:txBody>
      </p:sp>
      <p:pic>
        <p:nvPicPr>
          <p:cNvPr id="9" name="Picture 8" descr="R4F4EA93425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1856231"/>
            <a:ext cx="2377440" cy="4215384"/>
          </a:xfrm>
          <a:prstGeom prst="rect">
            <a:avLst/>
          </a:prstGeom>
        </p:spPr>
      </p:pic>
      <p:pic>
        <p:nvPicPr>
          <p:cNvPr id="10" name="Picture 9" descr="demo_receipt_detec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856231"/>
            <a:ext cx="2377440" cy="421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65576" y="3657600"/>
            <a:ext cx="338328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500" b="1">
                <a:solidFill>
                  <a:srgbClr val="137E9A"/>
                </a:solidFill>
                <a:latin typeface="Tahoma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48272" y="1856231"/>
            <a:ext cx="4636008" cy="421538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2121408"/>
            <a:ext cx="4069080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A5D"/>
                </a:solidFill>
                <a:latin typeface="Tahoma"/>
              </a:defRPr>
            </a:pPr>
            <a:r>
              <a:t>สิ่งที่สาธิต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761488"/>
            <a:ext cx="3904487" cy="21488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โมเดลจากการฝึก 38 ภาพบน PC CPU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ภาพนี้อยู่ในชุดตรวจฉากเดิม 10 ภาพ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แสดง 1 กรอบที่ confidence 0.981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ตั้งเกณฑ์แสดงผล confidence ≥ 0.80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276088"/>
            <a:ext cx="4005072" cy="5852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C05C2B"/>
                </a:solidFill>
                <a:latin typeface="Tahoma"/>
              </a:defRPr>
            </a:pPr>
            <a:r>
              <a:t>ภาพตัวอย่างหนึ่งภาพ ไม่ใช่ผลทดสอบข้ามฉากหรือผลบน NPU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D2A5D"/>
                </a:solidFill>
                <a:latin typeface="Tahoma"/>
              </a:defRPr>
            </a:pPr>
            <a:r>
              <a:t>งานถัดไปจากผลนำร่อง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ลำดับงานรักษาทิศทางของโครงงานทั้งระบบ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576975"/>
                </a:solidFill>
                <a:latin typeface="Tahoma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45336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636776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153619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แก้ชุดข้อมูล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527048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ตรวจ label / ธุรกรรมซ้ำ และทำเฉลย OCR–JSON สองรอบ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606040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05456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วัดแต่ละชั้น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1" y="2496312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เพิ่มฉากใหม่ เปรียบเทียบ OCR และทดสอบ LLM / JSON บน PC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483864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575304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3474720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ตรวจการส่งออก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3465576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ทดสอบ quantization และ PC-side SDK โดยเก็บเวอร์ชันกับผล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453128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544568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FFFFF"/>
                </a:solidFill>
                <a:latin typeface="Tahoma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4" y="4443984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D2A5D"/>
                </a:solidFill>
                <a:latin typeface="Tahoma"/>
              </a:defRPr>
            </a:pPr>
            <a:r>
              <a:t>ต่อระบบและฮาร์ดแวร์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434840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1D2F3E"/>
                </a:solidFill>
                <a:latin typeface="Tahoma"/>
              </a:defRPr>
            </a:pPr>
            <a:r>
              <a:t>ทดสอบ MQTT ด้วยข้อมูลที่ตรวจแล้ว; ย้ายขึ้นบอร์ดเมื่อพร้อม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632704"/>
            <a:ext cx="1051560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576975"/>
                </a:solidFill>
                <a:latin typeface="Tahoma"/>
              </a:defRPr>
            </a:pPr>
            <a:r>
              <a:t>อุปกรณ์เป้าหมายในระยะขอยืม: RK3588; จะวัด NPU จริงหลังได้รับบอร์ดและยืนยัน SDK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FFFF"/>
                </a:solidFill>
                <a:latin typeface="Tahoma"/>
              </a:defRPr>
            </a:pPr>
            <a:r>
              <a:t>สรุปความก้าวหน้า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FFFFFF"/>
                </a:solidFill>
                <a:latin typeface="Tahoma"/>
              </a:defRPr>
            </a:pPr>
            <a:r>
              <a:t>จากการทบทวนวรรณกรรมสู่หลักฐานทดลองนำร่อง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>
                <a:solidFill>
                  <a:srgbClr val="FFFFFF"/>
                </a:solidFill>
                <a:latin typeface="Tahoma"/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74519"/>
            <a:ext cx="10424160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กรอบระบบ e-Senses และ pipeline สามชั้นยังเป็นเป้าหมายหลักของโครงงาน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916936"/>
            <a:ext cx="10369296" cy="1508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0">
                <a:solidFill>
                  <a:srgbClr val="FFFFFF"/>
                </a:solidFill>
                <a:latin typeface="Tahoma"/>
              </a:defRPr>
            </a:pPr>
            <a:r>
              <a:t>วันนี้มีภาพจริง 59 ภาพผู้สมัคร และผล YOLO บน PC ที่ต่างกันระหว่างสองชุดภาพ</a:t>
            </a:r>
          </a:p>
          <a:p>
            <a:pPr algn="l">
              <a:spcAft>
                <a:spcPts val="400"/>
              </a:spcAft>
              <a:defRPr sz="2200" b="0">
                <a:solidFill>
                  <a:srgbClr val="FFFFFF"/>
                </a:solidFill>
                <a:latin typeface="Tahoma"/>
              </a:defRPr>
            </a:pPr>
            <a:r>
              <a:t>จึงมีข้อมูลใช้วางการทดลอง OCR, JSON/LLM และฮาร์ดแวร์ขั้นถัดไป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6112" y="5047488"/>
            <a:ext cx="3803904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05256" y="5340096"/>
            <a:ext cx="987552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Tahoma"/>
              </a:defRPr>
            </a:pPr>
            <a:r>
              <a:t>ขอบคุณครับ  |  คำถามและข้อเสนอแนะ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ความก้าวหน้าโครงงานระบบประสาทส่วนกลางอัจฉริยะในที่พักอาศัย</dc:title>
  <dc:subject>การนำเสนอความก้าวหน้าโครงงานคอมพิวเตอร์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